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3440460" y="21134"/>
            <a:ext cx="22630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ctr" indent="0" marL="0">
              <a:buNone/>
            </a:pPr>
            <a:r>
              <a:rPr lang="en-US" sz="960" dirty="0">
                <a:solidFill>
                  <a:srgbClr val="C8D4E8"/>
                </a:solidFill>
                <a:latin typeface="Inter" pitchFamily="34" charset="0"/>
                <a:ea typeface="Inter" pitchFamily="34" charset="-122"/>
                <a:cs typeface="Inter" pitchFamily="34" charset="-120"/>
              </a:rPr>
              <a:t>People Strategy · IVI · AI Agent Era</a:t>
            </a:r>
            <a:endParaRPr lang="en-US" sz="960" dirty="0"/>
          </a:p>
        </p:txBody>
      </p:sp>
      <p:sp>
        <p:nvSpPr>
          <p:cNvPr id="3" name="Text 1"/>
          <p:cNvSpPr/>
          <p:nvPr/>
        </p:nvSpPr>
        <p:spPr>
          <a:xfrm>
            <a:off x="495300" y="550366"/>
            <a:ext cx="8153400" cy="3429000"/>
          </a:xfrm>
          <a:prstGeom prst="rect">
            <a:avLst/>
          </a:prstGeom>
          <a:noFill/>
          <a:ln/>
        </p:spPr>
        <p:txBody>
          <a:bodyPr wrap="square" lIns="0" tIns="0" rIns="0" bIns="0" rtlCol="0" anchor="t"/>
          <a:lstStyle/>
          <a:p>
            <a:pPr algn="ctr" indent="0" marL="0">
              <a:lnSpc>
                <a:spcPts val="9000"/>
              </a:lnSpc>
              <a:buNone/>
            </a:pPr>
            <a:r>
              <a:rPr lang="en-US" sz="6000" b="1" dirty="0">
                <a:solidFill>
                  <a:srgbClr val="4F8CFF"/>
                </a:solidFill>
                <a:latin typeface="Instrument Serif" pitchFamily="34" charset="0"/>
                <a:ea typeface="Instrument Serif" pitchFamily="34" charset="-122"/>
                <a:cs typeface="Instrument Serif" pitchFamily="34" charset="-120"/>
              </a:rPr>
              <a:t>Phát triển nhân sự IVI trong thời đại dự án vận hành cùng nhiều AI Agent</a:t>
            </a:r>
            <a:endParaRPr lang="en-US" sz="6000" dirty="0"/>
          </a:p>
        </p:txBody>
      </p:sp>
      <p:sp>
        <p:nvSpPr>
          <p:cNvPr id="4" name="Text 2"/>
          <p:cNvSpPr/>
          <p:nvPr/>
        </p:nvSpPr>
        <p:spPr>
          <a:xfrm>
            <a:off x="495300" y="4131766"/>
            <a:ext cx="8153400" cy="571500"/>
          </a:xfrm>
          <a:prstGeom prst="rect">
            <a:avLst/>
          </a:prstGeom>
          <a:noFill/>
          <a:ln/>
        </p:spPr>
        <p:txBody>
          <a:bodyPr wrap="square" lIns="0" tIns="0" rIns="0" bIns="0" rtlCol="0" anchor="t"/>
          <a:lstStyle/>
          <a:p>
            <a:pPr algn="ctr" indent="0" marL="0">
              <a:lnSpc>
                <a:spcPts val="2250"/>
              </a:lnSpc>
              <a:buNone/>
            </a:pPr>
            <a:r>
              <a:rPr lang="en-US" sz="1500" dirty="0">
                <a:solidFill>
                  <a:srgbClr val="C8D4E8"/>
                </a:solidFill>
                <a:latin typeface="Inter" pitchFamily="34" charset="0"/>
                <a:ea typeface="Inter" pitchFamily="34" charset="-122"/>
                <a:cs typeface="Inter" pitchFamily="34" charset="-120"/>
              </a:rPr>
              <a:t>Từ mô hình “làm theo đầu việc” sang mô hình “kỹ sư điều phối hệ thống, AI và tri thức” để tăng tốc delivery, giữ chất lượng automotive và tạo lợi thế cho FPT Automotive</a:t>
            </a:r>
            <a:endParaRPr lang="en-US" sz="1500" dirty="0"/>
          </a:p>
        </p:txBody>
      </p:sp>
      <p:sp>
        <p:nvSpPr>
          <p:cNvPr id="5" name="Text 3"/>
          <p:cNvSpPr/>
          <p:nvPr/>
        </p:nvSpPr>
        <p:spPr>
          <a:xfrm>
            <a:off x="413766" y="4893766"/>
            <a:ext cx="8316468" cy="228600"/>
          </a:xfrm>
          <a:prstGeom prst="rect">
            <a:avLst/>
          </a:prstGeom>
          <a:noFill/>
          <a:ln/>
        </p:spPr>
        <p:txBody>
          <a:bodyPr wrap="square" lIns="0" tIns="0" rIns="0" bIns="0" rtlCol="0" anchor="t"/>
          <a:lstStyle/>
          <a:p>
            <a:pPr algn="ctr" indent="0" marL="0">
              <a:lnSpc>
                <a:spcPts val="1800"/>
              </a:lnSpc>
              <a:buNone/>
            </a:pPr>
            <a:r>
              <a:rPr lang="en-US" sz="1200" dirty="0">
                <a:solidFill>
                  <a:srgbClr val="91A4C6"/>
                </a:solidFill>
                <a:latin typeface="Inter" pitchFamily="34" charset="0"/>
                <a:ea typeface="Inter" pitchFamily="34" charset="-122"/>
                <a:cs typeface="Inter" pitchFamily="34" charset="-120"/>
              </a:rPr>
              <a:t>Đề xuất thực thi thực tế cho đơn vị IVI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835819"/>
            <a:ext cx="7676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Bối cảnh</a:t>
            </a:r>
            <a:endParaRPr lang="en-US" sz="960" dirty="0"/>
          </a:p>
        </p:txBody>
      </p:sp>
      <p:sp>
        <p:nvSpPr>
          <p:cNvPr id="3" name="Text 1"/>
          <p:cNvSpPr/>
          <p:nvPr/>
        </p:nvSpPr>
        <p:spPr>
          <a:xfrm>
            <a:off x="495300" y="607814"/>
            <a:ext cx="3962400" cy="2469952"/>
          </a:xfrm>
          <a:prstGeom prst="roundRect">
            <a:avLst>
              <a:gd name="adj" fmla="val 8144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607814"/>
            <a:ext cx="3962400" cy="2469952"/>
          </a:xfrm>
          <a:prstGeom prst="roundRect">
            <a:avLst>
              <a:gd name="adj" fmla="val 8144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306366"/>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306366"/>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344686"/>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Vì sao chủ đề này cấp thiết với IVI</a:t>
            </a:r>
            <a:endParaRPr lang="en-US" sz="3600" dirty="0"/>
          </a:p>
        </p:txBody>
      </p:sp>
      <p:sp>
        <p:nvSpPr>
          <p:cNvPr id="8" name="Text 6"/>
          <p:cNvSpPr/>
          <p:nvPr/>
        </p:nvSpPr>
        <p:spPr>
          <a:xfrm>
            <a:off x="771525" y="884039"/>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9" name="Text 7"/>
          <p:cNvSpPr/>
          <p:nvPr/>
        </p:nvSpPr>
        <p:spPr>
          <a:xfrm>
            <a:off x="771525" y="1341239"/>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Ô tô đang chuyển mạnh sang SDV</a:t>
            </a:r>
            <a:endParaRPr lang="en-US" sz="1500" dirty="0"/>
          </a:p>
        </p:txBody>
      </p:sp>
      <p:sp>
        <p:nvSpPr>
          <p:cNvPr id="10" name="Text 8"/>
          <p:cNvSpPr/>
          <p:nvPr/>
        </p:nvSpPr>
        <p:spPr>
          <a:xfrm>
            <a:off x="771525" y="1722239"/>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Ngành xe đang dịch từ kiến trúc ECU rời rạc sang nền tảng tính toán tập trung, phần mềm cập nhật liên tục và vòng đời tính năng kéo dài sau bán hàng. Điều này làm phần mềm, dữ liệu và tốc độ cải tiến trở thành năng lực cạnh tranh cốt lõi.</a:t>
            </a:r>
            <a:endParaRPr lang="en-US" sz="1104" dirty="0"/>
          </a:p>
        </p:txBody>
      </p:sp>
      <p:sp>
        <p:nvSpPr>
          <p:cNvPr id="11" name="Text 9"/>
          <p:cNvSpPr/>
          <p:nvPr/>
        </p:nvSpPr>
        <p:spPr>
          <a:xfrm>
            <a:off x="4962525" y="884039"/>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2" name="Text 10"/>
          <p:cNvSpPr/>
          <p:nvPr/>
        </p:nvSpPr>
        <p:spPr>
          <a:xfrm>
            <a:off x="4962525" y="13412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AI Agent đang đi vào workflow kỹ thuật</a:t>
            </a:r>
            <a:endParaRPr lang="en-US" sz="1500" dirty="0"/>
          </a:p>
        </p:txBody>
      </p:sp>
      <p:sp>
        <p:nvSpPr>
          <p:cNvPr id="13" name="Text 11"/>
          <p:cNvSpPr/>
          <p:nvPr/>
        </p:nvSpPr>
        <p:spPr>
          <a:xfrm>
            <a:off x="4962525" y="1988939"/>
            <a:ext cx="34099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Trong automotive, AI Agent đã được nhắc tới ở các khâu tạo requirement, traceability, code assistant và tạo test case; nhưng giá trị chỉ bền vững khi đi cùng đặc tả, validation và governance chặt.</a:t>
            </a:r>
            <a:endParaRPr lang="en-US" sz="1104" dirty="0"/>
          </a:p>
        </p:txBody>
      </p:sp>
      <p:sp>
        <p:nvSpPr>
          <p:cNvPr id="14" name="Text 12"/>
          <p:cNvSpPr/>
          <p:nvPr/>
        </p:nvSpPr>
        <p:spPr>
          <a:xfrm>
            <a:off x="771525" y="3582591"/>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5" name="Text 13"/>
          <p:cNvSpPr/>
          <p:nvPr/>
        </p:nvSpPr>
        <p:spPr>
          <a:xfrm>
            <a:off x="771525" y="4039791"/>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IVI là mặt trận trải nghiệm người dùng</a:t>
            </a:r>
            <a:endParaRPr lang="en-US" sz="1500" dirty="0"/>
          </a:p>
        </p:txBody>
      </p:sp>
      <p:sp>
        <p:nvSpPr>
          <p:cNvPr id="16" name="Text 14"/>
          <p:cNvSpPr/>
          <p:nvPr/>
        </p:nvSpPr>
        <p:spPr>
          <a:xfrm>
            <a:off x="771525" y="4687491"/>
            <a:ext cx="34099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IVI nằm ở giao điểm của HMI, Android/AAOS, connectivity, navigation, middleware, Vehicle HAL và OTA; đây là nơi yêu cầu vừa nhanh, vừa đẹp, vừa ổn định, vừa an toàn.</a:t>
            </a:r>
            <a:endParaRPr lang="en-US" sz="1104" dirty="0"/>
          </a:p>
        </p:txBody>
      </p:sp>
      <p:sp>
        <p:nvSpPr>
          <p:cNvPr id="17" name="Text 15"/>
          <p:cNvSpPr/>
          <p:nvPr/>
        </p:nvSpPr>
        <p:spPr>
          <a:xfrm>
            <a:off x="4962525" y="3582591"/>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8" name="Text 16"/>
          <p:cNvSpPr/>
          <p:nvPr/>
        </p:nvSpPr>
        <p:spPr>
          <a:xfrm>
            <a:off x="4962525" y="4039791"/>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FPT Automotive đã có nền tảng để bứt tốc</a:t>
            </a:r>
            <a:endParaRPr lang="en-US" sz="1500" dirty="0"/>
          </a:p>
        </p:txBody>
      </p:sp>
      <p:sp>
        <p:nvSpPr>
          <p:cNvPr id="19" name="Text 17"/>
          <p:cNvSpPr/>
          <p:nvPr/>
        </p:nvSpPr>
        <p:spPr>
          <a:xfrm>
            <a:off x="4962525" y="4687491"/>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FPT Automotive công bố năng lực end-to-end cho SDV và từng thực hiện dự án full-stack IVI từ application layer đến Android framework và Vehicle HAL, hoàn thành sớm hơn kế hoạch một tháng.</a:t>
            </a:r>
            <a:endParaRPr lang="en-US" sz="110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498277"/>
            <a:ext cx="14629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Luận điểm trung tâm</a:t>
            </a:r>
            <a:endParaRPr lang="en-US" sz="960" dirty="0"/>
          </a:p>
        </p:txBody>
      </p:sp>
      <p:sp>
        <p:nvSpPr>
          <p:cNvPr id="3" name="Text 1"/>
          <p:cNvSpPr/>
          <p:nvPr/>
        </p:nvSpPr>
        <p:spPr>
          <a:xfrm>
            <a:off x="495300" y="1593056"/>
            <a:ext cx="2565350" cy="2508052"/>
          </a:xfrm>
          <a:prstGeom prst="roundRect">
            <a:avLst>
              <a:gd name="adj" fmla="val 8020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89250" y="1593056"/>
            <a:ext cx="2565350" cy="2508052"/>
          </a:xfrm>
          <a:prstGeom prst="roundRect">
            <a:avLst>
              <a:gd name="adj" fmla="val 8020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83201" y="1593056"/>
            <a:ext cx="2565499" cy="2508052"/>
          </a:xfrm>
          <a:prstGeom prst="roundRect">
            <a:avLst>
              <a:gd name="adj" fmla="val 8020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329708"/>
            <a:ext cx="8153400" cy="1312069"/>
          </a:xfrm>
          <a:prstGeom prst="roundRect">
            <a:avLst>
              <a:gd name="adj" fmla="val 15332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7144"/>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Không phải giảm người, mà nâng cấp vai trò con người</a:t>
            </a:r>
            <a:endParaRPr lang="en-US" sz="3600" dirty="0"/>
          </a:p>
        </p:txBody>
      </p:sp>
      <p:sp>
        <p:nvSpPr>
          <p:cNvPr id="8" name="Text 6"/>
          <p:cNvSpPr/>
          <p:nvPr/>
        </p:nvSpPr>
        <p:spPr>
          <a:xfrm>
            <a:off x="751396" y="1869281"/>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4F8CFF"/>
                </a:solidFill>
                <a:latin typeface="Inter" pitchFamily="34" charset="0"/>
                <a:ea typeface="Inter" pitchFamily="34" charset="-122"/>
                <a:cs typeface="Inter" pitchFamily="34" charset="-120"/>
              </a:rPr>
              <a:t>1</a:t>
            </a:r>
            <a:endParaRPr lang="en-US" sz="3600" dirty="0"/>
          </a:p>
        </p:txBody>
      </p:sp>
      <p:sp>
        <p:nvSpPr>
          <p:cNvPr id="9" name="Text 7"/>
          <p:cNvSpPr/>
          <p:nvPr/>
        </p:nvSpPr>
        <p:spPr>
          <a:xfrm>
            <a:off x="771525" y="2402681"/>
            <a:ext cx="2012900"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Từ coder sang orchestrator</a:t>
            </a:r>
            <a:endParaRPr lang="en-US" sz="1350" dirty="0"/>
          </a:p>
        </p:txBody>
      </p:sp>
      <p:sp>
        <p:nvSpPr>
          <p:cNvPr id="10" name="Text 8"/>
          <p:cNvSpPr/>
          <p:nvPr/>
        </p:nvSpPr>
        <p:spPr>
          <a:xfrm>
            <a:off x="771525" y="3012281"/>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Kỹ sư IVI cần biết giao việc cho agent, kiểm soát output, ráp vào kiến trúc thật và chịu trách nhiệm cuối cùng.</a:t>
            </a:r>
            <a:endParaRPr lang="en-US" sz="1104" dirty="0"/>
          </a:p>
        </p:txBody>
      </p:sp>
      <p:sp>
        <p:nvSpPr>
          <p:cNvPr id="11" name="Text 9"/>
          <p:cNvSpPr/>
          <p:nvPr/>
        </p:nvSpPr>
        <p:spPr>
          <a:xfrm>
            <a:off x="3545346" y="1869281"/>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00D2B8"/>
                </a:solidFill>
                <a:latin typeface="Inter" pitchFamily="34" charset="0"/>
                <a:ea typeface="Inter" pitchFamily="34" charset="-122"/>
                <a:cs typeface="Inter" pitchFamily="34" charset="-120"/>
              </a:rPr>
              <a:t>2</a:t>
            </a:r>
            <a:endParaRPr lang="en-US" sz="3600" dirty="0"/>
          </a:p>
        </p:txBody>
      </p:sp>
      <p:sp>
        <p:nvSpPr>
          <p:cNvPr id="12" name="Text 10"/>
          <p:cNvSpPr/>
          <p:nvPr/>
        </p:nvSpPr>
        <p:spPr>
          <a:xfrm>
            <a:off x="3565475" y="2402681"/>
            <a:ext cx="2012900"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Từ làm nhanh sang làm đúng</a:t>
            </a:r>
            <a:endParaRPr lang="en-US" sz="1350" dirty="0"/>
          </a:p>
        </p:txBody>
      </p:sp>
      <p:sp>
        <p:nvSpPr>
          <p:cNvPr id="13" name="Text 11"/>
          <p:cNvSpPr/>
          <p:nvPr/>
        </p:nvSpPr>
        <p:spPr>
          <a:xfrm>
            <a:off x="3565475" y="3012281"/>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Trong môi trường automotive, AI chỉ hữu ích khi đặc tả, traceability, test và compliance mạnh hơn trước.</a:t>
            </a:r>
            <a:endParaRPr lang="en-US" sz="1104" dirty="0"/>
          </a:p>
        </p:txBody>
      </p:sp>
      <p:sp>
        <p:nvSpPr>
          <p:cNvPr id="14" name="Text 12"/>
          <p:cNvSpPr/>
          <p:nvPr/>
        </p:nvSpPr>
        <p:spPr>
          <a:xfrm>
            <a:off x="6339295" y="1869281"/>
            <a:ext cx="2053310" cy="457200"/>
          </a:xfrm>
          <a:prstGeom prst="rect">
            <a:avLst/>
          </a:prstGeom>
          <a:noFill/>
          <a:ln/>
        </p:spPr>
        <p:txBody>
          <a:bodyPr wrap="square" lIns="0" tIns="0" rIns="0" bIns="0" rtlCol="0" anchor="t"/>
          <a:lstStyle/>
          <a:p>
            <a:pPr algn="ctr" indent="0" marL="0">
              <a:lnSpc>
                <a:spcPts val="3600"/>
              </a:lnSpc>
              <a:buNone/>
            </a:pPr>
            <a:r>
              <a:rPr lang="en-US" sz="3600" b="1" dirty="0">
                <a:solidFill>
                  <a:srgbClr val="9B7BFF"/>
                </a:solidFill>
                <a:latin typeface="Inter" pitchFamily="34" charset="0"/>
                <a:ea typeface="Inter" pitchFamily="34" charset="-122"/>
                <a:cs typeface="Inter" pitchFamily="34" charset="-120"/>
              </a:rPr>
              <a:t>3</a:t>
            </a:r>
            <a:endParaRPr lang="en-US" sz="3600" dirty="0"/>
          </a:p>
        </p:txBody>
      </p:sp>
      <p:sp>
        <p:nvSpPr>
          <p:cNvPr id="15" name="Text 13"/>
          <p:cNvSpPr/>
          <p:nvPr/>
        </p:nvSpPr>
        <p:spPr>
          <a:xfrm>
            <a:off x="6359426" y="2402681"/>
            <a:ext cx="2013049"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Từ năng lực cá nhân sang năng lực tổ chức</a:t>
            </a:r>
            <a:endParaRPr lang="en-US" sz="1350" dirty="0"/>
          </a:p>
        </p:txBody>
      </p:sp>
      <p:sp>
        <p:nvSpPr>
          <p:cNvPr id="16" name="Text 14"/>
          <p:cNvSpPr/>
          <p:nvPr/>
        </p:nvSpPr>
        <p:spPr>
          <a:xfrm>
            <a:off x="6359426" y="3012281"/>
            <a:ext cx="2013049"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Lợi thế sẽ không nằm ở vài cá nhân dùng AI giỏi, mà ở quy trình, tài sản tri thức và CoE dùng chung toàn đơn vị.</a:t>
            </a:r>
            <a:endParaRPr lang="en-US" sz="1104" dirty="0"/>
          </a:p>
        </p:txBody>
      </p:sp>
      <p:sp>
        <p:nvSpPr>
          <p:cNvPr id="17" name="Text 15"/>
          <p:cNvSpPr/>
          <p:nvPr/>
        </p:nvSpPr>
        <p:spPr>
          <a:xfrm>
            <a:off x="733425" y="4567833"/>
            <a:ext cx="7677150" cy="835819"/>
          </a:xfrm>
          <a:prstGeom prst="rect">
            <a:avLst/>
          </a:prstGeom>
          <a:noFill/>
          <a:ln/>
        </p:spPr>
        <p:txBody>
          <a:bodyPr wrap="square" lIns="0" tIns="0" rIns="0" bIns="0" rtlCol="0" anchor="t"/>
          <a:lstStyle/>
          <a:p>
            <a:pPr indent="0" marL="0">
              <a:lnSpc>
                <a:spcPts val="2194"/>
              </a:lnSpc>
              <a:buNone/>
            </a:pPr>
            <a:r>
              <a:rPr lang="en-US" sz="1350" dirty="0">
                <a:solidFill>
                  <a:srgbClr val="C8D4E8"/>
                </a:solidFill>
                <a:latin typeface="Inter" pitchFamily="34" charset="0"/>
                <a:ea typeface="Inter" pitchFamily="34" charset="-122"/>
                <a:cs typeface="Inter" pitchFamily="34" charset="-120"/>
              </a:rPr>
              <a:t>Thông điệp cho lãnh đạo: AI Agent không thay thế đội IVI, mà buộc đội IVI tiến hóa thành lực lượng kỹ sư có domain mạnh, đặc tả tốt, kiểm định chắc và tận dụng AI như một lớp năng suất mới.</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743099"/>
            <a:ext cx="805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Tác động</a:t>
            </a:r>
            <a:endParaRPr lang="en-US" sz="960" dirty="0"/>
          </a:p>
        </p:txBody>
      </p:sp>
      <p:sp>
        <p:nvSpPr>
          <p:cNvPr id="3" name="Text 1"/>
          <p:cNvSpPr/>
          <p:nvPr/>
        </p:nvSpPr>
        <p:spPr>
          <a:xfrm>
            <a:off x="495300" y="1386334"/>
            <a:ext cx="3962400" cy="3338215"/>
          </a:xfrm>
          <a:prstGeom prst="roundRect">
            <a:avLst>
              <a:gd name="adj" fmla="val 6026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1386334"/>
            <a:ext cx="3962400" cy="3338215"/>
          </a:xfrm>
          <a:prstGeom prst="roundRect">
            <a:avLst>
              <a:gd name="adj" fmla="val 6026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4953149"/>
            <a:ext cx="2590800" cy="933450"/>
          </a:xfrm>
          <a:prstGeom prst="roundRect">
            <a:avLst>
              <a:gd name="adj" fmla="val 21551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3276600" y="4953149"/>
            <a:ext cx="2590800" cy="933450"/>
          </a:xfrm>
          <a:prstGeom prst="roundRect">
            <a:avLst>
              <a:gd name="adj" fmla="val 21551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6057900" y="4953149"/>
            <a:ext cx="2590800" cy="933450"/>
          </a:xfrm>
          <a:prstGeom prst="roundRect">
            <a:avLst>
              <a:gd name="adj" fmla="val 21551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95300" y="-251966"/>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Những thay đổi lớn trong dự án IVI khi có nhiều AI Agent</a:t>
            </a:r>
            <a:endParaRPr lang="en-US" sz="3600" dirty="0"/>
          </a:p>
        </p:txBody>
      </p:sp>
      <p:sp>
        <p:nvSpPr>
          <p:cNvPr id="9" name="Text 7"/>
          <p:cNvSpPr/>
          <p:nvPr/>
        </p:nvSpPr>
        <p:spPr>
          <a:xfrm>
            <a:off x="771525" y="1662559"/>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AI Agent có thể hỗ trợ tốt</a:t>
            </a:r>
            <a:endParaRPr lang="en-US" sz="1500" dirty="0"/>
          </a:p>
        </p:txBody>
      </p:sp>
      <p:sp>
        <p:nvSpPr>
          <p:cNvPr id="10" name="Text 8"/>
          <p:cNvSpPr/>
          <p:nvPr/>
        </p:nvSpPr>
        <p:spPr>
          <a:xfrm>
            <a:off x="771525" y="2081659"/>
            <a:ext cx="3409950" cy="1876574"/>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Phân tích requirement, sinh draft user story, use case và trace matrix ban đầu.</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Gợi ý code, refactor, sinh unit test, tạo mock API, tài liệu kỹ thuật và onboarding note.</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Tạo test case từ yêu cầu hệ thống, hỗ trợ regression, log triage và tổng hợp lỗi lặp lại.</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Tìm kiếm tri thức dự án, chuẩn coding, guideline OEM, lesson learned theo ngữ cảnh.</a:t>
            </a:r>
            <a:endParaRPr lang="en-US" sz="1104" dirty="0"/>
          </a:p>
        </p:txBody>
      </p:sp>
      <p:sp>
        <p:nvSpPr>
          <p:cNvPr id="11" name="Text 9"/>
          <p:cNvSpPr/>
          <p:nvPr/>
        </p:nvSpPr>
        <p:spPr>
          <a:xfrm>
            <a:off x="4962525" y="1662559"/>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Con người vẫn phải giữ</a:t>
            </a:r>
            <a:endParaRPr lang="en-US" sz="1500" dirty="0"/>
          </a:p>
        </p:txBody>
      </p:sp>
      <p:sp>
        <p:nvSpPr>
          <p:cNvPr id="12" name="Text 10"/>
          <p:cNvSpPr/>
          <p:nvPr/>
        </p:nvSpPr>
        <p:spPr>
          <a:xfrm>
            <a:off x="4962525" y="2081659"/>
            <a:ext cx="3409950" cy="2282875"/>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Quyết định kiến trúc, boundary trách nhiệm, design trade-off và integration strategy.</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Đảm bảo functional safety, cybersecurity, chất lượng release và tuân thủ quy trình.</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Xử lý các bài toán HMI/UX gắn với bối cảnh lái xe, trải nghiệm vùng thị trường và hành vi người dùng.</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Chịu trách nhiệm cuối về chất lượng trước OEM/Tier-1, không giao mặc định niềm tin cho agent.</a:t>
            </a:r>
            <a:endParaRPr lang="en-US" sz="1104" dirty="0"/>
          </a:p>
        </p:txBody>
      </p:sp>
      <p:sp>
        <p:nvSpPr>
          <p:cNvPr id="13" name="Text 11"/>
          <p:cNvSpPr/>
          <p:nvPr/>
        </p:nvSpPr>
        <p:spPr>
          <a:xfrm>
            <a:off x="673418" y="5153174"/>
            <a:ext cx="2234565"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Thay đổi 1</a:t>
            </a:r>
            <a:endParaRPr lang="en-US" sz="1050" dirty="0"/>
          </a:p>
        </p:txBody>
      </p:sp>
      <p:sp>
        <p:nvSpPr>
          <p:cNvPr id="14" name="Text 12"/>
          <p:cNvSpPr/>
          <p:nvPr/>
        </p:nvSpPr>
        <p:spPr>
          <a:xfrm>
            <a:off x="673418" y="5419874"/>
            <a:ext cx="2234565" cy="266700"/>
          </a:xfrm>
          <a:prstGeom prst="rect">
            <a:avLst/>
          </a:prstGeom>
          <a:noFill/>
          <a:ln/>
        </p:spPr>
        <p:txBody>
          <a:bodyPr wrap="square" lIns="0" tIns="0" rIns="0" bIns="0" rtlCol="0" anchor="t"/>
          <a:lstStyle/>
          <a:p>
            <a:pPr algn="ctr" indent="0" marL="0">
              <a:lnSpc>
                <a:spcPts val="2100"/>
              </a:lnSpc>
              <a:buNone/>
            </a:pPr>
            <a:r>
              <a:rPr lang="en-US" sz="1500" b="1" dirty="0">
                <a:solidFill>
                  <a:srgbClr val="EEF4FF"/>
                </a:solidFill>
                <a:latin typeface="Inter" pitchFamily="34" charset="0"/>
                <a:ea typeface="Inter" pitchFamily="34" charset="-122"/>
                <a:cs typeface="Inter" pitchFamily="34" charset="-120"/>
              </a:rPr>
              <a:t>Ít thao tác lặp lại</a:t>
            </a:r>
            <a:endParaRPr lang="en-US" sz="1500" dirty="0"/>
          </a:p>
        </p:txBody>
      </p:sp>
      <p:sp>
        <p:nvSpPr>
          <p:cNvPr id="15" name="Text 13"/>
          <p:cNvSpPr/>
          <p:nvPr/>
        </p:nvSpPr>
        <p:spPr>
          <a:xfrm>
            <a:off x="3454717" y="5153174"/>
            <a:ext cx="2234565"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Thay đổi 2</a:t>
            </a:r>
            <a:endParaRPr lang="en-US" sz="1050" dirty="0"/>
          </a:p>
        </p:txBody>
      </p:sp>
      <p:sp>
        <p:nvSpPr>
          <p:cNvPr id="16" name="Text 14"/>
          <p:cNvSpPr/>
          <p:nvPr/>
        </p:nvSpPr>
        <p:spPr>
          <a:xfrm>
            <a:off x="3454717" y="5419874"/>
            <a:ext cx="2234565" cy="266700"/>
          </a:xfrm>
          <a:prstGeom prst="rect">
            <a:avLst/>
          </a:prstGeom>
          <a:noFill/>
          <a:ln/>
        </p:spPr>
        <p:txBody>
          <a:bodyPr wrap="square" lIns="0" tIns="0" rIns="0" bIns="0" rtlCol="0" anchor="t"/>
          <a:lstStyle/>
          <a:p>
            <a:pPr algn="ctr" indent="0" marL="0">
              <a:lnSpc>
                <a:spcPts val="2100"/>
              </a:lnSpc>
              <a:buNone/>
            </a:pPr>
            <a:r>
              <a:rPr lang="en-US" sz="1500" b="1" dirty="0">
                <a:solidFill>
                  <a:srgbClr val="EEF4FF"/>
                </a:solidFill>
                <a:latin typeface="Inter" pitchFamily="34" charset="0"/>
                <a:ea typeface="Inter" pitchFamily="34" charset="-122"/>
                <a:cs typeface="Inter" pitchFamily="34" charset="-120"/>
              </a:rPr>
              <a:t>Nhiều kiểm định hơn</a:t>
            </a:r>
            <a:endParaRPr lang="en-US" sz="1500" dirty="0"/>
          </a:p>
        </p:txBody>
      </p:sp>
      <p:sp>
        <p:nvSpPr>
          <p:cNvPr id="17" name="Text 15"/>
          <p:cNvSpPr/>
          <p:nvPr/>
        </p:nvSpPr>
        <p:spPr>
          <a:xfrm>
            <a:off x="6236018" y="5153174"/>
            <a:ext cx="2234565"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Thay đổi 3</a:t>
            </a:r>
            <a:endParaRPr lang="en-US" sz="1050" dirty="0"/>
          </a:p>
        </p:txBody>
      </p:sp>
      <p:sp>
        <p:nvSpPr>
          <p:cNvPr id="18" name="Text 16"/>
          <p:cNvSpPr/>
          <p:nvPr/>
        </p:nvSpPr>
        <p:spPr>
          <a:xfrm>
            <a:off x="6236018" y="5419874"/>
            <a:ext cx="2234565" cy="266700"/>
          </a:xfrm>
          <a:prstGeom prst="rect">
            <a:avLst/>
          </a:prstGeom>
          <a:noFill/>
          <a:ln/>
        </p:spPr>
        <p:txBody>
          <a:bodyPr wrap="square" lIns="0" tIns="0" rIns="0" bIns="0" rtlCol="0" anchor="t"/>
          <a:lstStyle/>
          <a:p>
            <a:pPr algn="ctr" indent="0" marL="0">
              <a:lnSpc>
                <a:spcPts val="2100"/>
              </a:lnSpc>
              <a:buNone/>
            </a:pPr>
            <a:r>
              <a:rPr lang="en-US" sz="1500" b="1" dirty="0">
                <a:solidFill>
                  <a:srgbClr val="EEF4FF"/>
                </a:solidFill>
                <a:latin typeface="Inter" pitchFamily="34" charset="0"/>
                <a:ea typeface="Inter" pitchFamily="34" charset="-122"/>
                <a:cs typeface="Inter" pitchFamily="34" charset="-120"/>
              </a:rPr>
              <a:t>Đòi hỏi domain sâu hơn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75617"/>
            <a:ext cx="16058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Khoảng trống hiện nay</a:t>
            </a:r>
            <a:endParaRPr lang="en-US" sz="960" dirty="0"/>
          </a:p>
        </p:txBody>
      </p:sp>
      <p:sp>
        <p:nvSpPr>
          <p:cNvPr id="3" name="Text 1"/>
          <p:cNvSpPr/>
          <p:nvPr/>
        </p:nvSpPr>
        <p:spPr>
          <a:xfrm>
            <a:off x="495300" y="1953816"/>
            <a:ext cx="1508671" cy="212705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2156371" y="1953816"/>
            <a:ext cx="1508820" cy="2127052"/>
          </a:xfrm>
          <a:prstGeom prst="roundRect">
            <a:avLst>
              <a:gd name="adj" fmla="val 13332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3817590" y="1953816"/>
            <a:ext cx="1508671" cy="212705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5478661" y="1953816"/>
            <a:ext cx="1508820" cy="2127052"/>
          </a:xfrm>
          <a:prstGeom prst="roundRect">
            <a:avLst>
              <a:gd name="adj" fmla="val 13332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7139880" y="1953816"/>
            <a:ext cx="1508671" cy="212705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95300" y="4309467"/>
            <a:ext cx="8153400" cy="1009650"/>
          </a:xfrm>
          <a:prstGeom prst="roundRect">
            <a:avLst>
              <a:gd name="adj" fmla="val 19924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315516"/>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5 năng lực IVI thường thiếu khi bước vào kỷ nguyên agent</a:t>
            </a:r>
            <a:endParaRPr lang="en-US" sz="3600" dirty="0"/>
          </a:p>
        </p:txBody>
      </p:sp>
      <p:sp>
        <p:nvSpPr>
          <p:cNvPr id="10" name="Text 8"/>
          <p:cNvSpPr/>
          <p:nvPr/>
        </p:nvSpPr>
        <p:spPr>
          <a:xfrm>
            <a:off x="695325" y="2153841"/>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1" name="Text 9"/>
          <p:cNvSpPr/>
          <p:nvPr/>
        </p:nvSpPr>
        <p:spPr>
          <a:xfrm>
            <a:off x="695325" y="2534841"/>
            <a:ext cx="1108621"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Spec discipline</a:t>
            </a:r>
            <a:endParaRPr lang="en-US" sz="1200" dirty="0"/>
          </a:p>
        </p:txBody>
      </p:sp>
      <p:sp>
        <p:nvSpPr>
          <p:cNvPr id="12" name="Text 10"/>
          <p:cNvSpPr/>
          <p:nvPr/>
        </p:nvSpPr>
        <p:spPr>
          <a:xfrm>
            <a:off x="695325" y="3068241"/>
            <a:ext cx="1108621"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Requirement còn rời rạc, khó machine-readable.</a:t>
            </a:r>
            <a:endParaRPr lang="en-US" sz="1104" dirty="0"/>
          </a:p>
        </p:txBody>
      </p:sp>
      <p:sp>
        <p:nvSpPr>
          <p:cNvPr id="13" name="Text 11"/>
          <p:cNvSpPr/>
          <p:nvPr/>
        </p:nvSpPr>
        <p:spPr>
          <a:xfrm>
            <a:off x="2356396" y="2153841"/>
            <a:ext cx="1130945"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2356396" y="2534841"/>
            <a:ext cx="1130945"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Traceability</a:t>
            </a:r>
            <a:endParaRPr lang="en-US" sz="1200" dirty="0"/>
          </a:p>
        </p:txBody>
      </p:sp>
      <p:sp>
        <p:nvSpPr>
          <p:cNvPr id="15" name="Text 13"/>
          <p:cNvSpPr/>
          <p:nvPr/>
        </p:nvSpPr>
        <p:spPr>
          <a:xfrm>
            <a:off x="2356396" y="2839641"/>
            <a:ext cx="110877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Khó nối end-to-end từ yêu cầu đến test và release.</a:t>
            </a:r>
            <a:endParaRPr lang="en-US" sz="1104" dirty="0"/>
          </a:p>
        </p:txBody>
      </p:sp>
      <p:sp>
        <p:nvSpPr>
          <p:cNvPr id="16" name="Text 14"/>
          <p:cNvSpPr/>
          <p:nvPr/>
        </p:nvSpPr>
        <p:spPr>
          <a:xfrm>
            <a:off x="4017615" y="2153841"/>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4017615" y="2534841"/>
            <a:ext cx="1108621"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Prompting theo domain</a:t>
            </a:r>
            <a:endParaRPr lang="en-US" sz="1200" dirty="0"/>
          </a:p>
        </p:txBody>
      </p:sp>
      <p:sp>
        <p:nvSpPr>
          <p:cNvPr id="18" name="Text 16"/>
          <p:cNvSpPr/>
          <p:nvPr/>
        </p:nvSpPr>
        <p:spPr>
          <a:xfrm>
            <a:off x="4017615" y="3068241"/>
            <a:ext cx="1108621"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Biết dùng AI chung, nhưng chưa giỏi cho Android/AAOS/HAL.</a:t>
            </a:r>
            <a:endParaRPr lang="en-US" sz="1104" dirty="0"/>
          </a:p>
        </p:txBody>
      </p:sp>
      <p:sp>
        <p:nvSpPr>
          <p:cNvPr id="19" name="Text 17"/>
          <p:cNvSpPr/>
          <p:nvPr/>
        </p:nvSpPr>
        <p:spPr>
          <a:xfrm>
            <a:off x="5678686" y="2153841"/>
            <a:ext cx="1130945"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5678686" y="2534841"/>
            <a:ext cx="1130945"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AI validation</a:t>
            </a:r>
            <a:endParaRPr lang="en-US" sz="1200" dirty="0"/>
          </a:p>
        </p:txBody>
      </p:sp>
      <p:sp>
        <p:nvSpPr>
          <p:cNvPr id="21" name="Text 19"/>
          <p:cNvSpPr/>
          <p:nvPr/>
        </p:nvSpPr>
        <p:spPr>
          <a:xfrm>
            <a:off x="5678686" y="2839641"/>
            <a:ext cx="110877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Thiếu chuẩn để đánh giá output của agent.</a:t>
            </a:r>
            <a:endParaRPr lang="en-US" sz="1104" dirty="0"/>
          </a:p>
        </p:txBody>
      </p:sp>
      <p:sp>
        <p:nvSpPr>
          <p:cNvPr id="22" name="Text 20"/>
          <p:cNvSpPr/>
          <p:nvPr/>
        </p:nvSpPr>
        <p:spPr>
          <a:xfrm>
            <a:off x="7339905" y="2153841"/>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3" name="Text 21"/>
          <p:cNvSpPr/>
          <p:nvPr/>
        </p:nvSpPr>
        <p:spPr>
          <a:xfrm>
            <a:off x="7339905" y="2534841"/>
            <a:ext cx="1130793"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Governance</a:t>
            </a:r>
            <a:endParaRPr lang="en-US" sz="1200" dirty="0"/>
          </a:p>
        </p:txBody>
      </p:sp>
      <p:sp>
        <p:nvSpPr>
          <p:cNvPr id="24" name="Text 22"/>
          <p:cNvSpPr/>
          <p:nvPr/>
        </p:nvSpPr>
        <p:spPr>
          <a:xfrm>
            <a:off x="7339905" y="2839641"/>
            <a:ext cx="1108621"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Chưa rõ data nào được đưa vào AI, log nào phải lưu, ai phê duyệt.</a:t>
            </a:r>
            <a:endParaRPr lang="en-US" sz="1104" dirty="0"/>
          </a:p>
        </p:txBody>
      </p:sp>
      <p:sp>
        <p:nvSpPr>
          <p:cNvPr id="25" name="Text 23"/>
          <p:cNvSpPr/>
          <p:nvPr/>
        </p:nvSpPr>
        <p:spPr>
          <a:xfrm>
            <a:off x="733425" y="4547592"/>
            <a:ext cx="7677150" cy="5334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Nếu không lấp 5 khoảng trống này, AI sẽ chỉ làm tăng tốc việc tạo ra nhiều output hơn, chứ không tăng tốc delivery đúng nghĩa.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820489"/>
            <a:ext cx="11962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Khung năng lực</a:t>
            </a:r>
            <a:endParaRPr lang="en-US" sz="960" dirty="0"/>
          </a:p>
        </p:txBody>
      </p:sp>
      <p:sp>
        <p:nvSpPr>
          <p:cNvPr id="3" name="Text 1"/>
          <p:cNvSpPr/>
          <p:nvPr/>
        </p:nvSpPr>
        <p:spPr>
          <a:xfrm>
            <a:off x="495300" y="585043"/>
            <a:ext cx="3962400" cy="2708523"/>
          </a:xfrm>
          <a:prstGeom prst="roundRect">
            <a:avLst>
              <a:gd name="adj" fmla="val 7427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585043"/>
            <a:ext cx="3962400" cy="2708523"/>
          </a:xfrm>
          <a:prstGeom prst="roundRect">
            <a:avLst>
              <a:gd name="adj" fmla="val 7427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522166"/>
            <a:ext cx="3962400" cy="2441823"/>
          </a:xfrm>
          <a:prstGeom prst="roundRect">
            <a:avLst>
              <a:gd name="adj" fmla="val 82384"/>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522166"/>
            <a:ext cx="3962400" cy="2441823"/>
          </a:xfrm>
          <a:prstGeom prst="roundRect">
            <a:avLst>
              <a:gd name="adj" fmla="val 82384"/>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329357"/>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Mô hình năng lực nhân sự IVI 4 lớp</a:t>
            </a:r>
            <a:endParaRPr lang="en-US" sz="3600" dirty="0"/>
          </a:p>
        </p:txBody>
      </p:sp>
      <p:sp>
        <p:nvSpPr>
          <p:cNvPr id="8" name="Text 6"/>
          <p:cNvSpPr/>
          <p:nvPr/>
        </p:nvSpPr>
        <p:spPr>
          <a:xfrm>
            <a:off x="771525" y="861268"/>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1 · Nền tảng bắt buộc</a:t>
            </a:r>
            <a:endParaRPr lang="en-US" sz="1500" dirty="0"/>
          </a:p>
        </p:txBody>
      </p:sp>
      <p:sp>
        <p:nvSpPr>
          <p:cNvPr id="9" name="Text 7"/>
          <p:cNvSpPr/>
          <p:nvPr/>
        </p:nvSpPr>
        <p:spPr>
          <a:xfrm>
            <a:off x="771525" y="1280368"/>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Android/AAOS, Linux embedded, C/C++/Java/Kotlin theo stack thực tế của đơn vị.</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Automotive basics: Vehicle HAL, CAN/Ethernet, OTA, cybersecurity và chất lượng phần mềm.</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Quy trình dự án, review discipline, ticket hygiene, tài liệu hóa đủ cho reuse.</a:t>
            </a:r>
            <a:endParaRPr lang="en-US" sz="1104" dirty="0"/>
          </a:p>
        </p:txBody>
      </p:sp>
      <p:sp>
        <p:nvSpPr>
          <p:cNvPr id="10" name="Text 8"/>
          <p:cNvSpPr/>
          <p:nvPr/>
        </p:nvSpPr>
        <p:spPr>
          <a:xfrm>
            <a:off x="4962525" y="861268"/>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2 · Năng lực làm việc với AI Agent</a:t>
            </a:r>
            <a:endParaRPr lang="en-US" sz="1500" dirty="0"/>
          </a:p>
        </p:txBody>
      </p:sp>
      <p:sp>
        <p:nvSpPr>
          <p:cNvPr id="11" name="Text 9"/>
          <p:cNvSpPr/>
          <p:nvPr/>
        </p:nvSpPr>
        <p:spPr>
          <a:xfrm>
            <a:off x="4962525" y="1547068"/>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Prompt engineering theo ngữ cảnh IVI: requirement, code, debug, test, doc.</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Context curation: biết đưa đúng tài liệu, log, API contract, guideline OEM vào agent.</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Output verification: đối chiếu logic, hiệu năng, bảo mật, coding standard và edge case.</a:t>
            </a:r>
            <a:endParaRPr lang="en-US" sz="1104" dirty="0"/>
          </a:p>
        </p:txBody>
      </p:sp>
      <p:sp>
        <p:nvSpPr>
          <p:cNvPr id="12" name="Text 10"/>
          <p:cNvSpPr/>
          <p:nvPr/>
        </p:nvSpPr>
        <p:spPr>
          <a:xfrm>
            <a:off x="771525" y="37983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3 · Kỹ năng hệ thống</a:t>
            </a:r>
            <a:endParaRPr lang="en-US" sz="1500" dirty="0"/>
          </a:p>
        </p:txBody>
      </p:sp>
      <p:sp>
        <p:nvSpPr>
          <p:cNvPr id="13" name="Text 11"/>
          <p:cNvSpPr/>
          <p:nvPr/>
        </p:nvSpPr>
        <p:spPr>
          <a:xfrm>
            <a:off x="771525" y="4217491"/>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System thinking, interface design, dependency management và root cause analysis.</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Spec-driven development, traceability, testability và release readiness.</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Làm việc xuyên team với cloud, mobile, HMI, validation và PM.</a:t>
            </a:r>
            <a:endParaRPr lang="en-US" sz="1104" dirty="0"/>
          </a:p>
        </p:txBody>
      </p:sp>
      <p:sp>
        <p:nvSpPr>
          <p:cNvPr id="14" name="Text 12"/>
          <p:cNvSpPr/>
          <p:nvPr/>
        </p:nvSpPr>
        <p:spPr>
          <a:xfrm>
            <a:off x="4962525" y="37983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4 · Lãnh đạo kỹ thuật mới</a:t>
            </a:r>
            <a:endParaRPr lang="en-US" sz="1500" dirty="0"/>
          </a:p>
        </p:txBody>
      </p:sp>
      <p:sp>
        <p:nvSpPr>
          <p:cNvPr id="15" name="Text 13"/>
          <p:cNvSpPr/>
          <p:nvPr/>
        </p:nvSpPr>
        <p:spPr>
          <a:xfrm>
            <a:off x="4962525" y="4217491"/>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Biến bài toán delivery thành workflow có AI hỗ trợ nhưng vẫn audit được.</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Xây asset dùng chung: template, checklist, test accelerators, RAG knowledge base.</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Huấn luyện đội ngũ, đo ROI và quản lý rủi ro AI trong dự án thật.</a:t>
            </a:r>
            <a:endParaRPr lang="en-US" sz="110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3973860" y="1160413"/>
            <a:ext cx="11962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ctr" indent="0" marL="0">
              <a:buNone/>
            </a:pPr>
            <a:r>
              <a:rPr lang="en-US" sz="960" dirty="0">
                <a:solidFill>
                  <a:srgbClr val="C8D4E8"/>
                </a:solidFill>
                <a:latin typeface="Inter" pitchFamily="34" charset="0"/>
                <a:ea typeface="Inter" pitchFamily="34" charset="-122"/>
                <a:cs typeface="Inter" pitchFamily="34" charset="-120"/>
              </a:rPr>
              <a:t>Thiết kế tổ chức</a:t>
            </a:r>
            <a:endParaRPr lang="en-US" sz="960" dirty="0"/>
          </a:p>
        </p:txBody>
      </p:sp>
      <p:sp>
        <p:nvSpPr>
          <p:cNvPr id="3" name="Text 1"/>
          <p:cNvSpPr/>
          <p:nvPr/>
        </p:nvSpPr>
        <p:spPr>
          <a:xfrm>
            <a:off x="495300" y="1651546"/>
            <a:ext cx="8153400" cy="1645741"/>
          </a:xfrm>
          <a:prstGeom prst="rect">
            <a:avLst/>
          </a:prstGeom>
          <a:noFill/>
          <a:ln/>
        </p:spPr>
        <p:txBody>
          <a:bodyPr wrap="square" lIns="0" tIns="0" rIns="0" bIns="0" rtlCol="0" anchor="t"/>
          <a:lstStyle/>
          <a:p>
            <a:pPr algn="ctr" indent="0" marL="0">
              <a:lnSpc>
                <a:spcPts val="6480"/>
              </a:lnSpc>
              <a:buNone/>
            </a:pPr>
            <a:r>
              <a:rPr lang="en-US" sz="4320" b="1" dirty="0">
                <a:solidFill>
                  <a:srgbClr val="EEF4FF"/>
                </a:solidFill>
                <a:latin typeface="Instrument Serif" pitchFamily="34" charset="0"/>
                <a:ea typeface="Instrument Serif" pitchFamily="34" charset="-122"/>
                <a:cs typeface="Instrument Serif" pitchFamily="34" charset="-120"/>
              </a:rPr>
              <a:t>Cần chuyển từ “resource pool” sang “capability engine”</a:t>
            </a:r>
            <a:endParaRPr lang="en-US" sz="4320" dirty="0"/>
          </a:p>
        </p:txBody>
      </p:sp>
      <p:sp>
        <p:nvSpPr>
          <p:cNvPr id="4" name="Text 2"/>
          <p:cNvSpPr/>
          <p:nvPr/>
        </p:nvSpPr>
        <p:spPr>
          <a:xfrm>
            <a:off x="495300" y="3449687"/>
            <a:ext cx="8153400" cy="533400"/>
          </a:xfrm>
          <a:prstGeom prst="rect">
            <a:avLst/>
          </a:prstGeom>
          <a:noFill/>
          <a:ln/>
        </p:spPr>
        <p:txBody>
          <a:bodyPr wrap="square" lIns="0" tIns="0" rIns="0" bIns="0" rtlCol="0" anchor="t"/>
          <a:lstStyle/>
          <a:p>
            <a:pPr algn="ctr" indent="0" marL="0">
              <a:lnSpc>
                <a:spcPts val="2100"/>
              </a:lnSpc>
              <a:buNone/>
            </a:pPr>
            <a:r>
              <a:rPr lang="en-US" sz="1500" dirty="0">
                <a:solidFill>
                  <a:srgbClr val="C8D4E8"/>
                </a:solidFill>
                <a:latin typeface="Inter" pitchFamily="34" charset="0"/>
                <a:ea typeface="Inter" pitchFamily="34" charset="-122"/>
                <a:cs typeface="Inter" pitchFamily="34" charset="-120"/>
              </a:rPr>
              <a:t>Đơn vị IVI không chỉ phân người theo dự án, mà phải chủ động xây năng lực cốt lõi, tài sản tri thức và cơ chế nhân rộng năng suất bằng AI.</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21618"/>
            <a:ext cx="1186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Cơ cấu nhân sự</a:t>
            </a:r>
            <a:endParaRPr lang="en-US" sz="960" dirty="0"/>
          </a:p>
        </p:txBody>
      </p:sp>
      <p:sp>
        <p:nvSpPr>
          <p:cNvPr id="3" name="Text 1"/>
          <p:cNvSpPr/>
          <p:nvPr/>
        </p:nvSpPr>
        <p:spPr>
          <a:xfrm>
            <a:off x="495300" y="1122015"/>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76600" y="1122015"/>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57900" y="1122015"/>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3388816"/>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3276600" y="3388816"/>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6057900" y="3388816"/>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169515"/>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Vai trò mới nên hình thành trong đơn vị IVI</a:t>
            </a:r>
            <a:endParaRPr lang="en-US" sz="3600" dirty="0"/>
          </a:p>
        </p:txBody>
      </p:sp>
      <p:sp>
        <p:nvSpPr>
          <p:cNvPr id="10" name="Text 8"/>
          <p:cNvSpPr/>
          <p:nvPr/>
        </p:nvSpPr>
        <p:spPr>
          <a:xfrm>
            <a:off x="733425" y="13601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1" name="Text 9"/>
          <p:cNvSpPr/>
          <p:nvPr/>
        </p:nvSpPr>
        <p:spPr>
          <a:xfrm>
            <a:off x="733425" y="17411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IVI Domain Architect</a:t>
            </a:r>
            <a:endParaRPr lang="en-US" sz="1350" dirty="0"/>
          </a:p>
        </p:txBody>
      </p:sp>
      <p:sp>
        <p:nvSpPr>
          <p:cNvPr id="12" name="Text 10"/>
          <p:cNvSpPr/>
          <p:nvPr/>
        </p:nvSpPr>
        <p:spPr>
          <a:xfrm>
            <a:off x="733425" y="2084040"/>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Giữ kiến trúc chuẩn cho HMI, AAOS, middleware, integration và non-functional requirements.</a:t>
            </a:r>
            <a:endParaRPr lang="en-US" sz="1104" dirty="0"/>
          </a:p>
        </p:txBody>
      </p:sp>
      <p:sp>
        <p:nvSpPr>
          <p:cNvPr id="13" name="Text 11"/>
          <p:cNvSpPr/>
          <p:nvPr/>
        </p:nvSpPr>
        <p:spPr>
          <a:xfrm>
            <a:off x="3514725" y="13601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3514725" y="17411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AI Workflow Engineer</a:t>
            </a:r>
            <a:endParaRPr lang="en-US" sz="1350" dirty="0"/>
          </a:p>
        </p:txBody>
      </p:sp>
      <p:sp>
        <p:nvSpPr>
          <p:cNvPr id="15" name="Text 13"/>
          <p:cNvSpPr/>
          <p:nvPr/>
        </p:nvSpPr>
        <p:spPr>
          <a:xfrm>
            <a:off x="3514725" y="2084040"/>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Thiết kế prompt pack, RAG source, reusable workflow cho code/test/doc và đo hiệu quả.</a:t>
            </a:r>
            <a:endParaRPr lang="en-US" sz="1104" dirty="0"/>
          </a:p>
        </p:txBody>
      </p:sp>
      <p:sp>
        <p:nvSpPr>
          <p:cNvPr id="16" name="Text 14"/>
          <p:cNvSpPr/>
          <p:nvPr/>
        </p:nvSpPr>
        <p:spPr>
          <a:xfrm>
            <a:off x="6296025" y="13601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6296025" y="1741140"/>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AI Quality &amp; Compliance Lead</a:t>
            </a:r>
            <a:endParaRPr lang="en-US" sz="1350" dirty="0"/>
          </a:p>
        </p:txBody>
      </p:sp>
      <p:sp>
        <p:nvSpPr>
          <p:cNvPr id="18" name="Text 16"/>
          <p:cNvSpPr/>
          <p:nvPr/>
        </p:nvSpPr>
        <p:spPr>
          <a:xfrm>
            <a:off x="6296025" y="2350740"/>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Định nghĩa hàng rào cho data, validation, traceability, security và audit log.</a:t>
            </a:r>
            <a:endParaRPr lang="en-US" sz="1104" dirty="0"/>
          </a:p>
        </p:txBody>
      </p:sp>
      <p:sp>
        <p:nvSpPr>
          <p:cNvPr id="19" name="Text 17"/>
          <p:cNvSpPr/>
          <p:nvPr/>
        </p:nvSpPr>
        <p:spPr>
          <a:xfrm>
            <a:off x="733425" y="362694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733425" y="4007941"/>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Knowledge Curator</a:t>
            </a:r>
            <a:endParaRPr lang="en-US" sz="1350" dirty="0"/>
          </a:p>
        </p:txBody>
      </p:sp>
      <p:sp>
        <p:nvSpPr>
          <p:cNvPr id="21" name="Text 19"/>
          <p:cNvSpPr/>
          <p:nvPr/>
        </p:nvSpPr>
        <p:spPr>
          <a:xfrm>
            <a:off x="733425" y="4350841"/>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Biến guideline, lesson learned, code pattern và OEM convention thành knowledge asset sống.</a:t>
            </a:r>
            <a:endParaRPr lang="en-US" sz="1104" dirty="0"/>
          </a:p>
        </p:txBody>
      </p:sp>
      <p:sp>
        <p:nvSpPr>
          <p:cNvPr id="22" name="Text 20"/>
          <p:cNvSpPr/>
          <p:nvPr/>
        </p:nvSpPr>
        <p:spPr>
          <a:xfrm>
            <a:off x="3514725" y="362694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3" name="Text 21"/>
          <p:cNvSpPr/>
          <p:nvPr/>
        </p:nvSpPr>
        <p:spPr>
          <a:xfrm>
            <a:off x="3514725" y="4007941"/>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Test Automation Champion</a:t>
            </a:r>
            <a:endParaRPr lang="en-US" sz="1350" dirty="0"/>
          </a:p>
        </p:txBody>
      </p:sp>
      <p:sp>
        <p:nvSpPr>
          <p:cNvPr id="24" name="Text 22"/>
          <p:cNvSpPr/>
          <p:nvPr/>
        </p:nvSpPr>
        <p:spPr>
          <a:xfrm>
            <a:off x="3514725" y="4617541"/>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Gắn AI với regression, scenario generation, defect triage và test data chuẩn hóa.</a:t>
            </a:r>
            <a:endParaRPr lang="en-US" sz="1104" dirty="0"/>
          </a:p>
        </p:txBody>
      </p:sp>
      <p:sp>
        <p:nvSpPr>
          <p:cNvPr id="25" name="Text 23"/>
          <p:cNvSpPr/>
          <p:nvPr/>
        </p:nvSpPr>
        <p:spPr>
          <a:xfrm>
            <a:off x="6296025" y="362694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6" name="Text 24"/>
          <p:cNvSpPr/>
          <p:nvPr/>
        </p:nvSpPr>
        <p:spPr>
          <a:xfrm>
            <a:off x="6296025" y="4007941"/>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People Coach / Tech Lead</a:t>
            </a:r>
            <a:endParaRPr lang="en-US" sz="1350" dirty="0"/>
          </a:p>
        </p:txBody>
      </p:sp>
      <p:sp>
        <p:nvSpPr>
          <p:cNvPr id="27" name="Text 25"/>
          <p:cNvSpPr/>
          <p:nvPr/>
        </p:nvSpPr>
        <p:spPr>
          <a:xfrm>
            <a:off x="6296025" y="4617541"/>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Kèm cặp kỹ sư trẻ đi từ dùng tool sang làm chủ bài toán, giảm lệ thuộc vào cá nhân giỏi.</a:t>
            </a:r>
            <a:endParaRPr lang="en-US" sz="110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578793"/>
            <a:ext cx="13391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Roadmap 12 tháng</a:t>
            </a:r>
            <a:endParaRPr lang="en-US" sz="960" dirty="0"/>
          </a:p>
        </p:txBody>
      </p:sp>
      <p:sp>
        <p:nvSpPr>
          <p:cNvPr id="3" name="Text 1"/>
          <p:cNvSpPr/>
          <p:nvPr/>
        </p:nvSpPr>
        <p:spPr>
          <a:xfrm>
            <a:off x="876300" y="864840"/>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561975" y="1198215"/>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876300" y="2547491"/>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561975" y="2880866"/>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76300" y="4230142"/>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561975" y="4563517"/>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495300" y="-87660"/>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Lộ trình phát triển nhân sự IVI theo 3 giai đoạn</a:t>
            </a:r>
            <a:endParaRPr lang="en-US" sz="3600" dirty="0"/>
          </a:p>
        </p:txBody>
      </p:sp>
      <p:sp>
        <p:nvSpPr>
          <p:cNvPr id="10" name="Text 8"/>
          <p:cNvSpPr/>
          <p:nvPr/>
        </p:nvSpPr>
        <p:spPr>
          <a:xfrm>
            <a:off x="1114425" y="1102965"/>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0–3 tháng</a:t>
            </a:r>
            <a:endParaRPr lang="en-US" sz="1050" dirty="0"/>
          </a:p>
        </p:txBody>
      </p:sp>
      <p:sp>
        <p:nvSpPr>
          <p:cNvPr id="11" name="Text 9"/>
          <p:cNvSpPr/>
          <p:nvPr/>
        </p:nvSpPr>
        <p:spPr>
          <a:xfrm>
            <a:off x="1114425" y="1369665"/>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Chuẩn hóa nền móng</a:t>
            </a:r>
            <a:endParaRPr lang="en-US" sz="1500" dirty="0"/>
          </a:p>
        </p:txBody>
      </p:sp>
      <p:sp>
        <p:nvSpPr>
          <p:cNvPr id="12" name="Text 10"/>
          <p:cNvSpPr/>
          <p:nvPr/>
        </p:nvSpPr>
        <p:spPr>
          <a:xfrm>
            <a:off x="1114425" y="1712565"/>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Xác định 10–15 use case AI có giá trị thật cho IVI; ban hành policy dữ liệu; chuẩn hóa template requirement, design note, code review, test case, defect triage.</a:t>
            </a:r>
            <a:endParaRPr lang="en-US" sz="1104" dirty="0"/>
          </a:p>
        </p:txBody>
      </p:sp>
      <p:sp>
        <p:nvSpPr>
          <p:cNvPr id="13" name="Text 11"/>
          <p:cNvSpPr/>
          <p:nvPr/>
        </p:nvSpPr>
        <p:spPr>
          <a:xfrm>
            <a:off x="1114425" y="2785616"/>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3–6 tháng</a:t>
            </a:r>
            <a:endParaRPr lang="en-US" sz="1050" dirty="0"/>
          </a:p>
        </p:txBody>
      </p:sp>
      <p:sp>
        <p:nvSpPr>
          <p:cNvPr id="14" name="Text 12"/>
          <p:cNvSpPr/>
          <p:nvPr/>
        </p:nvSpPr>
        <p:spPr>
          <a:xfrm>
            <a:off x="1114425" y="3052316"/>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Pilot theo squad</a:t>
            </a:r>
            <a:endParaRPr lang="en-US" sz="1500" dirty="0"/>
          </a:p>
        </p:txBody>
      </p:sp>
      <p:sp>
        <p:nvSpPr>
          <p:cNvPr id="15" name="Text 13"/>
          <p:cNvSpPr/>
          <p:nvPr/>
        </p:nvSpPr>
        <p:spPr>
          <a:xfrm>
            <a:off x="1114425" y="3395216"/>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Chọn 2–3 squad pilot: một squad app/HMI, một squad platform/integration, một squad validation; đo lead time, defect leakage, effort documentation, onboarding speed.</a:t>
            </a:r>
            <a:endParaRPr lang="en-US" sz="1104" dirty="0"/>
          </a:p>
        </p:txBody>
      </p:sp>
      <p:sp>
        <p:nvSpPr>
          <p:cNvPr id="16" name="Text 14"/>
          <p:cNvSpPr/>
          <p:nvPr/>
        </p:nvSpPr>
        <p:spPr>
          <a:xfrm>
            <a:off x="1114425" y="4468267"/>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6–12 tháng</a:t>
            </a:r>
            <a:endParaRPr lang="en-US" sz="1050" dirty="0"/>
          </a:p>
        </p:txBody>
      </p:sp>
      <p:sp>
        <p:nvSpPr>
          <p:cNvPr id="17" name="Text 15"/>
          <p:cNvSpPr/>
          <p:nvPr/>
        </p:nvSpPr>
        <p:spPr>
          <a:xfrm>
            <a:off x="1114425" y="4734967"/>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Nhân rộng toàn đơn vị</a:t>
            </a:r>
            <a:endParaRPr lang="en-US" sz="1500" dirty="0"/>
          </a:p>
        </p:txBody>
      </p:sp>
      <p:sp>
        <p:nvSpPr>
          <p:cNvPr id="18" name="Text 16"/>
          <p:cNvSpPr/>
          <p:nvPr/>
        </p:nvSpPr>
        <p:spPr>
          <a:xfrm>
            <a:off x="1114425" y="5077867"/>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Đưa workflow hiệu quả vào quy trình chuẩn, xây knowledge base nội bộ, hình thành AI/SDV CoE và gắn KPI năng lực với trưởng nhóm, PM, architect.</a:t>
            </a:r>
            <a:endParaRPr lang="en-US" sz="110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29332"/>
            <a:ext cx="151060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Chương trình đào tạo</a:t>
            </a:r>
            <a:endParaRPr lang="en-US" sz="960" dirty="0"/>
          </a:p>
        </p:txBody>
      </p:sp>
      <p:sp>
        <p:nvSpPr>
          <p:cNvPr id="3" name="Text 1"/>
          <p:cNvSpPr/>
          <p:nvPr/>
        </p:nvSpPr>
        <p:spPr>
          <a:xfrm>
            <a:off x="495300" y="1572964"/>
            <a:ext cx="2565350"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89250" y="1572964"/>
            <a:ext cx="2565350"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83201" y="1572964"/>
            <a:ext cx="2565499"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2841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Foundation track cho fresher</a:t>
            </a:r>
            <a:endParaRPr lang="en-US" sz="1104" dirty="0"/>
          </a:p>
        </p:txBody>
      </p:sp>
      <p:sp>
        <p:nvSpPr>
          <p:cNvPr id="7" name="Text 5"/>
          <p:cNvSpPr/>
          <p:nvPr/>
        </p:nvSpPr>
        <p:spPr>
          <a:xfrm>
            <a:off x="2571750" y="42841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Upskill track cho mid-level</a:t>
            </a:r>
            <a:endParaRPr lang="en-US" sz="1104" dirty="0"/>
          </a:p>
        </p:txBody>
      </p:sp>
      <p:sp>
        <p:nvSpPr>
          <p:cNvPr id="8" name="Text 6"/>
          <p:cNvSpPr/>
          <p:nvPr/>
        </p:nvSpPr>
        <p:spPr>
          <a:xfrm>
            <a:off x="4648200" y="42841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Architect track cho senior</a:t>
            </a:r>
            <a:endParaRPr lang="en-US" sz="1104" dirty="0"/>
          </a:p>
        </p:txBody>
      </p:sp>
      <p:sp>
        <p:nvSpPr>
          <p:cNvPr id="9" name="Text 7"/>
          <p:cNvSpPr/>
          <p:nvPr/>
        </p:nvSpPr>
        <p:spPr>
          <a:xfrm>
            <a:off x="6724650" y="42841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Manager track cho leads/PM</a:t>
            </a:r>
            <a:endParaRPr lang="en-US" sz="1104" dirty="0"/>
          </a:p>
        </p:txBody>
      </p:sp>
      <p:sp>
        <p:nvSpPr>
          <p:cNvPr id="10" name="Text 8"/>
          <p:cNvSpPr/>
          <p:nvPr/>
        </p:nvSpPr>
        <p:spPr>
          <a:xfrm>
            <a:off x="495300" y="620464"/>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Khung đào tạo 70-20-10 cho People IVI</a:t>
            </a:r>
            <a:endParaRPr lang="en-US" sz="3600" dirty="0"/>
          </a:p>
        </p:txBody>
      </p:sp>
      <p:sp>
        <p:nvSpPr>
          <p:cNvPr id="11" name="Text 9"/>
          <p:cNvSpPr/>
          <p:nvPr/>
        </p:nvSpPr>
        <p:spPr>
          <a:xfrm>
            <a:off x="751396" y="1849189"/>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4F8CFF"/>
                </a:solidFill>
                <a:latin typeface="Inter" pitchFamily="34" charset="0"/>
                <a:ea typeface="Inter" pitchFamily="34" charset="-122"/>
                <a:cs typeface="Inter" pitchFamily="34" charset="-120"/>
              </a:rPr>
              <a:t>70%</a:t>
            </a:r>
            <a:endParaRPr lang="en-US" sz="3600" dirty="0"/>
          </a:p>
        </p:txBody>
      </p:sp>
      <p:sp>
        <p:nvSpPr>
          <p:cNvPr id="12" name="Text 10"/>
          <p:cNvSpPr/>
          <p:nvPr/>
        </p:nvSpPr>
        <p:spPr>
          <a:xfrm>
            <a:off x="751396" y="2382589"/>
            <a:ext cx="2053158"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On-the-job</a:t>
            </a:r>
            <a:endParaRPr lang="en-US" sz="1350" dirty="0"/>
          </a:p>
        </p:txBody>
      </p:sp>
      <p:sp>
        <p:nvSpPr>
          <p:cNvPr id="13" name="Text 11"/>
          <p:cNvSpPr/>
          <p:nvPr/>
        </p:nvSpPr>
        <p:spPr>
          <a:xfrm>
            <a:off x="771525" y="2763589"/>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Học trên dự án thật: prompt pack, AI-assisted debug, test generation, review checklist, retrospectives theo use case.</a:t>
            </a:r>
            <a:endParaRPr lang="en-US" sz="1104" dirty="0"/>
          </a:p>
        </p:txBody>
      </p:sp>
      <p:sp>
        <p:nvSpPr>
          <p:cNvPr id="14" name="Text 12"/>
          <p:cNvSpPr/>
          <p:nvPr/>
        </p:nvSpPr>
        <p:spPr>
          <a:xfrm>
            <a:off x="3545346" y="1849189"/>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00D2B8"/>
                </a:solidFill>
                <a:latin typeface="Inter" pitchFamily="34" charset="0"/>
                <a:ea typeface="Inter" pitchFamily="34" charset="-122"/>
                <a:cs typeface="Inter" pitchFamily="34" charset="-120"/>
              </a:rPr>
              <a:t>20%</a:t>
            </a:r>
            <a:endParaRPr lang="en-US" sz="3600" dirty="0"/>
          </a:p>
        </p:txBody>
      </p:sp>
      <p:sp>
        <p:nvSpPr>
          <p:cNvPr id="15" name="Text 13"/>
          <p:cNvSpPr/>
          <p:nvPr/>
        </p:nvSpPr>
        <p:spPr>
          <a:xfrm>
            <a:off x="3545346" y="2382589"/>
            <a:ext cx="2053158"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Coaching</a:t>
            </a:r>
            <a:endParaRPr lang="en-US" sz="1350" dirty="0"/>
          </a:p>
        </p:txBody>
      </p:sp>
      <p:sp>
        <p:nvSpPr>
          <p:cNvPr id="16" name="Text 14"/>
          <p:cNvSpPr/>
          <p:nvPr/>
        </p:nvSpPr>
        <p:spPr>
          <a:xfrm>
            <a:off x="3565475" y="2763589"/>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Architect, tech lead, QA lead kèm cặp qua pair review, brown bag session, office hour và cộng đồng thực hành.</a:t>
            </a:r>
            <a:endParaRPr lang="en-US" sz="1104" dirty="0"/>
          </a:p>
        </p:txBody>
      </p:sp>
      <p:sp>
        <p:nvSpPr>
          <p:cNvPr id="17" name="Text 15"/>
          <p:cNvSpPr/>
          <p:nvPr/>
        </p:nvSpPr>
        <p:spPr>
          <a:xfrm>
            <a:off x="6339295" y="1849189"/>
            <a:ext cx="2053310" cy="457200"/>
          </a:xfrm>
          <a:prstGeom prst="rect">
            <a:avLst/>
          </a:prstGeom>
          <a:noFill/>
          <a:ln/>
        </p:spPr>
        <p:txBody>
          <a:bodyPr wrap="square" lIns="0" tIns="0" rIns="0" bIns="0" rtlCol="0" anchor="t"/>
          <a:lstStyle/>
          <a:p>
            <a:pPr algn="ctr" indent="0" marL="0">
              <a:lnSpc>
                <a:spcPts val="3600"/>
              </a:lnSpc>
              <a:buNone/>
            </a:pPr>
            <a:r>
              <a:rPr lang="en-US" sz="3600" b="1" dirty="0">
                <a:solidFill>
                  <a:srgbClr val="9B7BFF"/>
                </a:solidFill>
                <a:latin typeface="Inter" pitchFamily="34" charset="0"/>
                <a:ea typeface="Inter" pitchFamily="34" charset="-122"/>
                <a:cs typeface="Inter" pitchFamily="34" charset="-120"/>
              </a:rPr>
              <a:t>10%</a:t>
            </a:r>
            <a:endParaRPr lang="en-US" sz="3600" dirty="0"/>
          </a:p>
        </p:txBody>
      </p:sp>
      <p:sp>
        <p:nvSpPr>
          <p:cNvPr id="18" name="Text 16"/>
          <p:cNvSpPr/>
          <p:nvPr/>
        </p:nvSpPr>
        <p:spPr>
          <a:xfrm>
            <a:off x="6339295" y="2382589"/>
            <a:ext cx="2053310"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Formal learning</a:t>
            </a:r>
            <a:endParaRPr lang="en-US" sz="1350" dirty="0"/>
          </a:p>
        </p:txBody>
      </p:sp>
      <p:sp>
        <p:nvSpPr>
          <p:cNvPr id="19" name="Text 17"/>
          <p:cNvSpPr/>
          <p:nvPr/>
        </p:nvSpPr>
        <p:spPr>
          <a:xfrm>
            <a:off x="6359426" y="2763589"/>
            <a:ext cx="2013049" cy="101575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Khoá ngắn theo track: AAOS + HAL, test automation, AI workflow, spec-driven development, cybersecurity và compliance.</a:t>
            </a:r>
            <a:endParaRPr lang="en-US" sz="110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82042"/>
            <a:ext cx="1186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KPI đo hiệu quả</a:t>
            </a:r>
            <a:endParaRPr lang="en-US" sz="960" dirty="0"/>
          </a:p>
        </p:txBody>
      </p:sp>
      <p:sp>
        <p:nvSpPr>
          <p:cNvPr id="3" name="Text 1"/>
          <p:cNvSpPr/>
          <p:nvPr/>
        </p:nvSpPr>
        <p:spPr>
          <a:xfrm>
            <a:off x="495300" y="1709291"/>
            <a:ext cx="2590800" cy="27813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733425" y="27856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5" name="Text 3"/>
          <p:cNvSpPr/>
          <p:nvPr/>
        </p:nvSpPr>
        <p:spPr>
          <a:xfrm>
            <a:off x="733425" y="35285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6" name="Text 4"/>
          <p:cNvSpPr/>
          <p:nvPr/>
        </p:nvSpPr>
        <p:spPr>
          <a:xfrm>
            <a:off x="733425" y="40810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7" name="Text 5"/>
          <p:cNvSpPr/>
          <p:nvPr/>
        </p:nvSpPr>
        <p:spPr>
          <a:xfrm>
            <a:off x="3276600" y="1709291"/>
            <a:ext cx="2590800" cy="27813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3514725" y="25951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9" name="Text 7"/>
          <p:cNvSpPr/>
          <p:nvPr/>
        </p:nvSpPr>
        <p:spPr>
          <a:xfrm>
            <a:off x="3514725" y="31475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0" name="Text 8"/>
          <p:cNvSpPr/>
          <p:nvPr/>
        </p:nvSpPr>
        <p:spPr>
          <a:xfrm>
            <a:off x="3514725" y="37000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1" name="Text 9"/>
          <p:cNvSpPr/>
          <p:nvPr/>
        </p:nvSpPr>
        <p:spPr>
          <a:xfrm>
            <a:off x="6057900" y="1709291"/>
            <a:ext cx="2590800" cy="27813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2" name="Text 10"/>
          <p:cNvSpPr/>
          <p:nvPr/>
        </p:nvSpPr>
        <p:spPr>
          <a:xfrm>
            <a:off x="6296025" y="25951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3" name="Text 11"/>
          <p:cNvSpPr/>
          <p:nvPr/>
        </p:nvSpPr>
        <p:spPr>
          <a:xfrm>
            <a:off x="6296025" y="31475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4" name="Text 12"/>
          <p:cNvSpPr/>
          <p:nvPr/>
        </p:nvSpPr>
        <p:spPr>
          <a:xfrm>
            <a:off x="6296025" y="38905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5" name="Text 13"/>
          <p:cNvSpPr/>
          <p:nvPr/>
        </p:nvSpPr>
        <p:spPr>
          <a:xfrm>
            <a:off x="495300" y="4719191"/>
            <a:ext cx="8153400" cy="806351"/>
          </a:xfrm>
          <a:prstGeom prst="roundRect">
            <a:avLst>
              <a:gd name="adj" fmla="val 24947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6" name="Text 14"/>
          <p:cNvSpPr/>
          <p:nvPr/>
        </p:nvSpPr>
        <p:spPr>
          <a:xfrm>
            <a:off x="495300" y="109091"/>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Đo nhân sự bằng tác động delivery, không chỉ số giờ học</a:t>
            </a:r>
            <a:endParaRPr lang="en-US" sz="3600" dirty="0"/>
          </a:p>
        </p:txBody>
      </p:sp>
      <p:sp>
        <p:nvSpPr>
          <p:cNvPr id="17" name="Text 15"/>
          <p:cNvSpPr/>
          <p:nvPr/>
        </p:nvSpPr>
        <p:spPr>
          <a:xfrm>
            <a:off x="733425" y="194741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Delivery KPI</a:t>
            </a:r>
            <a:endParaRPr lang="en-US" sz="1350" dirty="0"/>
          </a:p>
        </p:txBody>
      </p:sp>
      <p:sp>
        <p:nvSpPr>
          <p:cNvPr id="18" name="Text 16"/>
          <p:cNvSpPr/>
          <p:nvPr/>
        </p:nvSpPr>
        <p:spPr>
          <a:xfrm>
            <a:off x="733425" y="2366516"/>
            <a:ext cx="1190476"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Lead time task/spec</a:t>
            </a:r>
            <a:endParaRPr lang="en-US" sz="1050" dirty="0"/>
          </a:p>
        </p:txBody>
      </p:sp>
      <p:sp>
        <p:nvSpPr>
          <p:cNvPr id="19" name="Text 17"/>
          <p:cNvSpPr/>
          <p:nvPr/>
        </p:nvSpPr>
        <p:spPr>
          <a:xfrm>
            <a:off x="1923901" y="2366516"/>
            <a:ext cx="924074"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-15% đến -25%</a:t>
            </a:r>
            <a:endParaRPr lang="en-US" sz="1050" dirty="0"/>
          </a:p>
        </p:txBody>
      </p:sp>
      <p:sp>
        <p:nvSpPr>
          <p:cNvPr id="20" name="Text 18"/>
          <p:cNvSpPr/>
          <p:nvPr/>
        </p:nvSpPr>
        <p:spPr>
          <a:xfrm>
            <a:off x="733425" y="3109466"/>
            <a:ext cx="1092845"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Onboarding speed</a:t>
            </a:r>
            <a:endParaRPr lang="en-US" sz="1050" dirty="0"/>
          </a:p>
        </p:txBody>
      </p:sp>
      <p:sp>
        <p:nvSpPr>
          <p:cNvPr id="21" name="Text 19"/>
          <p:cNvSpPr/>
          <p:nvPr/>
        </p:nvSpPr>
        <p:spPr>
          <a:xfrm>
            <a:off x="1826270" y="3109466"/>
            <a:ext cx="1021705"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+20% đến +30%</a:t>
            </a:r>
            <a:endParaRPr lang="en-US" sz="1050" dirty="0"/>
          </a:p>
        </p:txBody>
      </p:sp>
      <p:sp>
        <p:nvSpPr>
          <p:cNvPr id="22" name="Text 20"/>
          <p:cNvSpPr/>
          <p:nvPr/>
        </p:nvSpPr>
        <p:spPr>
          <a:xfrm>
            <a:off x="733425" y="3852416"/>
            <a:ext cx="136988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Automation coverage</a:t>
            </a:r>
            <a:endParaRPr lang="en-US" sz="1050" dirty="0"/>
          </a:p>
        </p:txBody>
      </p:sp>
      <p:sp>
        <p:nvSpPr>
          <p:cNvPr id="23" name="Text 21"/>
          <p:cNvSpPr/>
          <p:nvPr/>
        </p:nvSpPr>
        <p:spPr>
          <a:xfrm>
            <a:off x="2466975" y="3852416"/>
            <a:ext cx="38862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+25%</a:t>
            </a:r>
            <a:endParaRPr lang="en-US" sz="1050" dirty="0"/>
          </a:p>
        </p:txBody>
      </p:sp>
      <p:sp>
        <p:nvSpPr>
          <p:cNvPr id="24" name="Text 22"/>
          <p:cNvSpPr/>
          <p:nvPr/>
        </p:nvSpPr>
        <p:spPr>
          <a:xfrm>
            <a:off x="3514725" y="194741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Quality KPI</a:t>
            </a:r>
            <a:endParaRPr lang="en-US" sz="1350" dirty="0"/>
          </a:p>
        </p:txBody>
      </p:sp>
      <p:sp>
        <p:nvSpPr>
          <p:cNvPr id="25" name="Text 23"/>
          <p:cNvSpPr/>
          <p:nvPr/>
        </p:nvSpPr>
        <p:spPr>
          <a:xfrm>
            <a:off x="3514725" y="2366516"/>
            <a:ext cx="97155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Defect leakage</a:t>
            </a:r>
            <a:endParaRPr lang="en-US" sz="1050" dirty="0"/>
          </a:p>
        </p:txBody>
      </p:sp>
      <p:sp>
        <p:nvSpPr>
          <p:cNvPr id="26" name="Text 24"/>
          <p:cNvSpPr/>
          <p:nvPr/>
        </p:nvSpPr>
        <p:spPr>
          <a:xfrm>
            <a:off x="4619625" y="2366516"/>
            <a:ext cx="1029843"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-10% đến -20%</a:t>
            </a:r>
            <a:endParaRPr lang="en-US" sz="1050" dirty="0"/>
          </a:p>
        </p:txBody>
      </p:sp>
      <p:sp>
        <p:nvSpPr>
          <p:cNvPr id="27" name="Text 25"/>
          <p:cNvSpPr/>
          <p:nvPr/>
        </p:nvSpPr>
        <p:spPr>
          <a:xfrm>
            <a:off x="3514725" y="2918966"/>
            <a:ext cx="105899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Reuse asset rate</a:t>
            </a:r>
            <a:endParaRPr lang="en-US" sz="1050" dirty="0"/>
          </a:p>
        </p:txBody>
      </p:sp>
      <p:sp>
        <p:nvSpPr>
          <p:cNvPr id="28" name="Text 26"/>
          <p:cNvSpPr/>
          <p:nvPr/>
        </p:nvSpPr>
        <p:spPr>
          <a:xfrm>
            <a:off x="5238750" y="291896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+30%</a:t>
            </a:r>
            <a:endParaRPr lang="en-US" sz="1050" dirty="0"/>
          </a:p>
        </p:txBody>
      </p:sp>
      <p:sp>
        <p:nvSpPr>
          <p:cNvPr id="29" name="Text 27"/>
          <p:cNvSpPr/>
          <p:nvPr/>
        </p:nvSpPr>
        <p:spPr>
          <a:xfrm>
            <a:off x="3514725" y="3471416"/>
            <a:ext cx="166135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Traceability completeness</a:t>
            </a:r>
            <a:endParaRPr lang="en-US" sz="1050" dirty="0"/>
          </a:p>
        </p:txBody>
      </p:sp>
      <p:sp>
        <p:nvSpPr>
          <p:cNvPr id="30" name="Text 28"/>
          <p:cNvSpPr/>
          <p:nvPr/>
        </p:nvSpPr>
        <p:spPr>
          <a:xfrm>
            <a:off x="5238750" y="347141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&gt;90%</a:t>
            </a:r>
            <a:endParaRPr lang="en-US" sz="1050" dirty="0"/>
          </a:p>
        </p:txBody>
      </p:sp>
      <p:sp>
        <p:nvSpPr>
          <p:cNvPr id="31" name="Text 29"/>
          <p:cNvSpPr/>
          <p:nvPr/>
        </p:nvSpPr>
        <p:spPr>
          <a:xfrm>
            <a:off x="6296025" y="194741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People KPI</a:t>
            </a:r>
            <a:endParaRPr lang="en-US" sz="1350" dirty="0"/>
          </a:p>
        </p:txBody>
      </p:sp>
      <p:sp>
        <p:nvSpPr>
          <p:cNvPr id="32" name="Text 30"/>
          <p:cNvSpPr/>
          <p:nvPr/>
        </p:nvSpPr>
        <p:spPr>
          <a:xfrm>
            <a:off x="6296025" y="2366516"/>
            <a:ext cx="1709928"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Certified AI workflow users</a:t>
            </a:r>
            <a:endParaRPr lang="en-US" sz="1050" dirty="0"/>
          </a:p>
        </p:txBody>
      </p:sp>
      <p:sp>
        <p:nvSpPr>
          <p:cNvPr id="33" name="Text 31"/>
          <p:cNvSpPr/>
          <p:nvPr/>
        </p:nvSpPr>
        <p:spPr>
          <a:xfrm>
            <a:off x="8020050" y="236651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60%+</a:t>
            </a:r>
            <a:endParaRPr lang="en-US" sz="1050" dirty="0"/>
          </a:p>
        </p:txBody>
      </p:sp>
      <p:sp>
        <p:nvSpPr>
          <p:cNvPr id="34" name="Text 32"/>
          <p:cNvSpPr/>
          <p:nvPr/>
        </p:nvSpPr>
        <p:spPr>
          <a:xfrm>
            <a:off x="6296025" y="2918966"/>
            <a:ext cx="1029843"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Internal mentors</a:t>
            </a:r>
            <a:endParaRPr lang="en-US" sz="1050" dirty="0"/>
          </a:p>
        </p:txBody>
      </p:sp>
      <p:sp>
        <p:nvSpPr>
          <p:cNvPr id="35" name="Text 33"/>
          <p:cNvSpPr/>
          <p:nvPr/>
        </p:nvSpPr>
        <p:spPr>
          <a:xfrm>
            <a:off x="7315200" y="2918966"/>
            <a:ext cx="1117283"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10–15% lực lượng</a:t>
            </a:r>
            <a:endParaRPr lang="en-US" sz="1050" dirty="0"/>
          </a:p>
        </p:txBody>
      </p:sp>
      <p:sp>
        <p:nvSpPr>
          <p:cNvPr id="36" name="Text 34"/>
          <p:cNvSpPr/>
          <p:nvPr/>
        </p:nvSpPr>
        <p:spPr>
          <a:xfrm>
            <a:off x="6296025" y="3471416"/>
            <a:ext cx="1425029"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Knowledge contribution</a:t>
            </a:r>
            <a:endParaRPr lang="en-US" sz="1050" dirty="0"/>
          </a:p>
        </p:txBody>
      </p:sp>
      <p:sp>
        <p:nvSpPr>
          <p:cNvPr id="37" name="Text 35"/>
          <p:cNvSpPr/>
          <p:nvPr/>
        </p:nvSpPr>
        <p:spPr>
          <a:xfrm>
            <a:off x="7721054" y="3471416"/>
            <a:ext cx="689521"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hàng tháng</a:t>
            </a:r>
            <a:endParaRPr lang="en-US" sz="1050" dirty="0"/>
          </a:p>
        </p:txBody>
      </p:sp>
      <p:sp>
        <p:nvSpPr>
          <p:cNvPr id="38" name="Text 36"/>
          <p:cNvSpPr/>
          <p:nvPr/>
        </p:nvSpPr>
        <p:spPr>
          <a:xfrm>
            <a:off x="695325" y="4919216"/>
            <a:ext cx="77533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Các mức % trên là mục tiêu điều hành đề xuất để pilot và điều chỉnh theo thực tế từng dự án; nguyên tắc là phải đo trước-sau trên cùng một squad để chứng minh ROI.</a:t>
            </a:r>
            <a:endParaRPr lang="en-US" sz="110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42118"/>
            <a:ext cx="9676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Governance</a:t>
            </a:r>
            <a:endParaRPr lang="en-US" sz="960" dirty="0"/>
          </a:p>
        </p:txBody>
      </p:sp>
      <p:sp>
        <p:nvSpPr>
          <p:cNvPr id="3" name="Text 1"/>
          <p:cNvSpPr/>
          <p:nvPr/>
        </p:nvSpPr>
        <p:spPr>
          <a:xfrm>
            <a:off x="495300" y="1401514"/>
            <a:ext cx="39624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1401514"/>
            <a:ext cx="39624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642866"/>
            <a:ext cx="3962400" cy="1542901"/>
          </a:xfrm>
          <a:prstGeom prst="roundRect">
            <a:avLst>
              <a:gd name="adj" fmla="val 13038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642866"/>
            <a:ext cx="3962400" cy="1542901"/>
          </a:xfrm>
          <a:prstGeom prst="roundRect">
            <a:avLst>
              <a:gd name="adj" fmla="val 13038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449014"/>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4 nguyên tắc để AI trong IVI không bị viển vông</a:t>
            </a:r>
            <a:endParaRPr lang="en-US" sz="3600" dirty="0"/>
          </a:p>
        </p:txBody>
      </p:sp>
      <p:sp>
        <p:nvSpPr>
          <p:cNvPr id="8" name="Text 6"/>
          <p:cNvSpPr/>
          <p:nvPr/>
        </p:nvSpPr>
        <p:spPr>
          <a:xfrm>
            <a:off x="771525" y="16777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1. Chỉ dùng AI ở bài toán có chuẩn đầu ra</a:t>
            </a:r>
            <a:endParaRPr lang="en-US" sz="1500" dirty="0"/>
          </a:p>
        </p:txBody>
      </p:sp>
      <p:sp>
        <p:nvSpPr>
          <p:cNvPr id="9" name="Text 7"/>
          <p:cNvSpPr/>
          <p:nvPr/>
        </p:nvSpPr>
        <p:spPr>
          <a:xfrm>
            <a:off x="771525" y="2325439"/>
            <a:ext cx="34099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Ưu tiên spec draft, code review support, unit test, log analysis, knowledge retrieval. Tránh dùng AI tự quyết ở các hạng mục safety/compliance nếu chưa có hàng rào rõ.</a:t>
            </a:r>
            <a:endParaRPr lang="en-US" sz="1104" dirty="0"/>
          </a:p>
        </p:txBody>
      </p:sp>
      <p:sp>
        <p:nvSpPr>
          <p:cNvPr id="10" name="Text 8"/>
          <p:cNvSpPr/>
          <p:nvPr/>
        </p:nvSpPr>
        <p:spPr>
          <a:xfrm>
            <a:off x="4962525" y="16777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2. Tách rõ sinh nội dung và phê duyệt</a:t>
            </a:r>
            <a:endParaRPr lang="en-US" sz="1500" dirty="0"/>
          </a:p>
        </p:txBody>
      </p:sp>
      <p:sp>
        <p:nvSpPr>
          <p:cNvPr id="11" name="Text 9"/>
          <p:cNvSpPr/>
          <p:nvPr/>
        </p:nvSpPr>
        <p:spPr>
          <a:xfrm>
            <a:off x="4962525" y="2325439"/>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AI tạo nháp; kỹ sư, lead hoặc QA là người duyệt. Không để mô hình “agent sinh, agent tự xác nhận” trong khâu quan trọng.</a:t>
            </a:r>
            <a:endParaRPr lang="en-US" sz="1104" dirty="0"/>
          </a:p>
        </p:txBody>
      </p:sp>
      <p:sp>
        <p:nvSpPr>
          <p:cNvPr id="12" name="Text 10"/>
          <p:cNvSpPr/>
          <p:nvPr/>
        </p:nvSpPr>
        <p:spPr>
          <a:xfrm>
            <a:off x="771525" y="39190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3. Quản lý dữ liệu và IP nghiêm túc</a:t>
            </a:r>
            <a:endParaRPr lang="en-US" sz="1500" dirty="0"/>
          </a:p>
        </p:txBody>
      </p:sp>
      <p:sp>
        <p:nvSpPr>
          <p:cNvPr id="13" name="Text 11"/>
          <p:cNvSpPr/>
          <p:nvPr/>
        </p:nvSpPr>
        <p:spPr>
          <a:xfrm>
            <a:off x="771525" y="4300091"/>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Phân loại tài liệu nào được đưa vào agent, tài liệu nào chỉ dùng nội bộ kín; lưu log prompt/output cho use case quan trọng.</a:t>
            </a:r>
            <a:endParaRPr lang="en-US" sz="1104" dirty="0"/>
          </a:p>
        </p:txBody>
      </p:sp>
      <p:sp>
        <p:nvSpPr>
          <p:cNvPr id="14" name="Text 12"/>
          <p:cNvSpPr/>
          <p:nvPr/>
        </p:nvSpPr>
        <p:spPr>
          <a:xfrm>
            <a:off x="4962525" y="39190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4. Xây CoE để mở rộng có kiểm soát</a:t>
            </a:r>
            <a:endParaRPr lang="en-US" sz="1500" dirty="0"/>
          </a:p>
        </p:txBody>
      </p:sp>
      <p:sp>
        <p:nvSpPr>
          <p:cNvPr id="15" name="Text 13"/>
          <p:cNvSpPr/>
          <p:nvPr/>
        </p:nvSpPr>
        <p:spPr>
          <a:xfrm>
            <a:off x="4962525" y="4300091"/>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CoE không làm thay delivery team, mà cung cấp framework, best practice, accelerator, benchmark và hỗ trợ rollout nhanh hơn.</a:t>
            </a:r>
            <a:endParaRPr lang="en-US" sz="110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59866"/>
            <a:ext cx="14534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Đề xuất với lãnh đạo</a:t>
            </a:r>
            <a:endParaRPr lang="en-US" sz="960" dirty="0"/>
          </a:p>
        </p:txBody>
      </p:sp>
      <p:sp>
        <p:nvSpPr>
          <p:cNvPr id="3" name="Text 1"/>
          <p:cNvSpPr/>
          <p:nvPr/>
        </p:nvSpPr>
        <p:spPr>
          <a:xfrm>
            <a:off x="495300" y="108376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67250" y="108376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213151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67250" y="213151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317926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667250" y="317926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4493716"/>
            <a:ext cx="8153400" cy="1009650"/>
          </a:xfrm>
          <a:prstGeom prst="roundRect">
            <a:avLst>
              <a:gd name="adj" fmla="val 19924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0" name="Text 8"/>
          <p:cNvSpPr/>
          <p:nvPr/>
        </p:nvSpPr>
        <p:spPr>
          <a:xfrm>
            <a:off x="495300" y="131266"/>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6 việc đơn vị IVI có thể làm ngay</a:t>
            </a:r>
            <a:endParaRPr lang="en-US" sz="3600" dirty="0"/>
          </a:p>
        </p:txBody>
      </p:sp>
      <p:sp>
        <p:nvSpPr>
          <p:cNvPr id="11" name="Text 9"/>
          <p:cNvSpPr/>
          <p:nvPr/>
        </p:nvSpPr>
        <p:spPr>
          <a:xfrm>
            <a:off x="695325" y="1302841"/>
            <a:ext cx="223457"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4867275" y="13028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02.</a:t>
            </a:r>
            <a:endParaRPr lang="en-US" sz="1200" dirty="0"/>
          </a:p>
        </p:txBody>
      </p:sp>
      <p:sp>
        <p:nvSpPr>
          <p:cNvPr id="13" name="Text 11"/>
          <p:cNvSpPr/>
          <p:nvPr/>
        </p:nvSpPr>
        <p:spPr>
          <a:xfrm>
            <a:off x="695325" y="23505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03.</a:t>
            </a:r>
            <a:endParaRPr lang="en-US" sz="1200" dirty="0"/>
          </a:p>
        </p:txBody>
      </p:sp>
      <p:sp>
        <p:nvSpPr>
          <p:cNvPr id="14" name="Text 12"/>
          <p:cNvSpPr/>
          <p:nvPr/>
        </p:nvSpPr>
        <p:spPr>
          <a:xfrm>
            <a:off x="4867275" y="23505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695325" y="33983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05.</a:t>
            </a:r>
            <a:endParaRPr lang="en-US" sz="1200" dirty="0"/>
          </a:p>
        </p:txBody>
      </p:sp>
      <p:sp>
        <p:nvSpPr>
          <p:cNvPr id="16" name="Text 14"/>
          <p:cNvSpPr/>
          <p:nvPr/>
        </p:nvSpPr>
        <p:spPr>
          <a:xfrm>
            <a:off x="4867275" y="33983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06.</a:t>
            </a:r>
            <a:endParaRPr lang="en-US" sz="1200" dirty="0"/>
          </a:p>
        </p:txBody>
      </p:sp>
      <p:sp>
        <p:nvSpPr>
          <p:cNvPr id="17" name="Text 15"/>
          <p:cNvSpPr/>
          <p:nvPr/>
        </p:nvSpPr>
        <p:spPr>
          <a:xfrm>
            <a:off x="733425" y="4731841"/>
            <a:ext cx="7677150" cy="5334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Khi đó, IVI sẽ tạo được năng lực tổ chức khó sao chép: hiểu domain xe, vận hành AI đúng cách và delivery bền vững hơn đối thủ.</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13766" y="379363"/>
            <a:ext cx="8316468" cy="1600200"/>
          </a:xfrm>
          <a:prstGeom prst="rect">
            <a:avLst/>
          </a:prstGeom>
          <a:noFill/>
          <a:ln/>
        </p:spPr>
        <p:txBody>
          <a:bodyPr wrap="square" lIns="0" tIns="0" rIns="0" bIns="0" rtlCol="0" anchor="t"/>
          <a:lstStyle/>
          <a:p>
            <a:pPr algn="ctr" indent="0" marL="0">
              <a:lnSpc>
                <a:spcPts val="12600"/>
              </a:lnSpc>
              <a:buNone/>
            </a:pPr>
            <a:r>
              <a:rPr lang="en-US" sz="8400" dirty="0">
                <a:solidFill>
                  <a:srgbClr val="EEF4FF"/>
                </a:solidFill>
                <a:latin typeface="Inter" pitchFamily="34" charset="0"/>
                <a:ea typeface="Inter" pitchFamily="34" charset="-122"/>
                <a:cs typeface="Inter" pitchFamily="34" charset="-120"/>
              </a:rPr>
              <a:t>🚘</a:t>
            </a:r>
            <a:endParaRPr lang="en-US" sz="8400" dirty="0"/>
          </a:p>
        </p:txBody>
      </p:sp>
      <p:sp>
        <p:nvSpPr>
          <p:cNvPr id="3" name="Text 1"/>
          <p:cNvSpPr/>
          <p:nvPr/>
        </p:nvSpPr>
        <p:spPr>
          <a:xfrm>
            <a:off x="413766" y="2170063"/>
            <a:ext cx="8316468" cy="1097161"/>
          </a:xfrm>
          <a:prstGeom prst="rect">
            <a:avLst/>
          </a:prstGeom>
          <a:noFill/>
          <a:ln/>
        </p:spPr>
        <p:txBody>
          <a:bodyPr wrap="square" lIns="0" tIns="0" rIns="0" bIns="0" rtlCol="0" anchor="t"/>
          <a:lstStyle/>
          <a:p>
            <a:pPr algn="ctr" indent="0" marL="0">
              <a:lnSpc>
                <a:spcPts val="8640"/>
              </a:lnSpc>
              <a:buNone/>
            </a:pPr>
            <a:r>
              <a:rPr lang="en-US" sz="5760" b="1" dirty="0">
                <a:solidFill>
                  <a:srgbClr val="4F8CFF"/>
                </a:solidFill>
                <a:latin typeface="Instrument Serif" pitchFamily="34" charset="0"/>
                <a:ea typeface="Instrument Serif" pitchFamily="34" charset="-122"/>
                <a:cs typeface="Instrument Serif" pitchFamily="34" charset="-120"/>
              </a:rPr>
              <a:t>Thông điệp chốt</a:t>
            </a:r>
            <a:endParaRPr lang="en-US" sz="5760" dirty="0"/>
          </a:p>
        </p:txBody>
      </p:sp>
      <p:sp>
        <p:nvSpPr>
          <p:cNvPr id="4" name="Text 2"/>
          <p:cNvSpPr/>
          <p:nvPr/>
        </p:nvSpPr>
        <p:spPr>
          <a:xfrm>
            <a:off x="495300" y="3419624"/>
            <a:ext cx="8153400" cy="925562"/>
          </a:xfrm>
          <a:prstGeom prst="rect">
            <a:avLst/>
          </a:prstGeom>
          <a:noFill/>
          <a:ln/>
        </p:spPr>
        <p:txBody>
          <a:bodyPr wrap="square" lIns="0" tIns="0" rIns="0" bIns="0" rtlCol="0" anchor="t"/>
          <a:lstStyle/>
          <a:p>
            <a:pPr algn="ctr" indent="0" marL="0">
              <a:lnSpc>
                <a:spcPts val="2430"/>
              </a:lnSpc>
              <a:buNone/>
            </a:pPr>
            <a:r>
              <a:rPr lang="en-US" sz="1620" dirty="0">
                <a:solidFill>
                  <a:srgbClr val="C8D4E8"/>
                </a:solidFill>
                <a:latin typeface="Inter" pitchFamily="34" charset="0"/>
                <a:ea typeface="Inter" pitchFamily="34" charset="-122"/>
                <a:cs typeface="Inter" pitchFamily="34" charset="-120"/>
              </a:rPr>
              <a:t>Phát triển nhân sự IVI trong thời đại nhiều AI Agent không phải là mua thêm tool, mà là tái thiết năng lực con người, quy trình và tài sản tri thức để đơn vị giao hàng nhanh hơn, đúng hơn và có thể scale.</a:t>
            </a:r>
            <a:endParaRPr lang="en-US" sz="1620" dirty="0"/>
          </a:p>
        </p:txBody>
      </p:sp>
      <p:sp>
        <p:nvSpPr>
          <p:cNvPr id="5" name="Text 3"/>
          <p:cNvSpPr/>
          <p:nvPr/>
        </p:nvSpPr>
        <p:spPr>
          <a:xfrm>
            <a:off x="413766" y="4573786"/>
            <a:ext cx="8316468"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People first · AI enabled · Automotive grade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2026-07-01T15:07:33Z</dcterms:created>
  <dcterms:modified xsi:type="dcterms:W3CDTF">2026-07-01T15:07:33Z</dcterms:modified>
</cp:coreProperties>
</file>