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3249960" y="-121741"/>
            <a:ext cx="2644080"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ctr" indent="0" marL="0">
              <a:buNone/>
            </a:pPr>
            <a:r>
              <a:rPr lang="en-US" sz="960" dirty="0">
                <a:solidFill>
                  <a:srgbClr val="C8D4E8"/>
                </a:solidFill>
                <a:latin typeface="Inter" pitchFamily="34" charset="0"/>
                <a:ea typeface="Inter" pitchFamily="34" charset="-122"/>
                <a:cs typeface="Inter" pitchFamily="34" charset="-120"/>
              </a:rPr>
              <a:t>Technical Lead View · Code Review · Test</a:t>
            </a:r>
            <a:endParaRPr lang="en-US" sz="960" dirty="0"/>
          </a:p>
        </p:txBody>
      </p:sp>
      <p:sp>
        <p:nvSpPr>
          <p:cNvPr id="3" name="Text 1"/>
          <p:cNvSpPr/>
          <p:nvPr/>
        </p:nvSpPr>
        <p:spPr>
          <a:xfrm>
            <a:off x="495300" y="407491"/>
            <a:ext cx="8153400" cy="3429000"/>
          </a:xfrm>
          <a:prstGeom prst="rect">
            <a:avLst/>
          </a:prstGeom>
          <a:noFill/>
          <a:ln/>
        </p:spPr>
        <p:txBody>
          <a:bodyPr wrap="square" lIns="0" tIns="0" rIns="0" bIns="0" rtlCol="0" anchor="t"/>
          <a:lstStyle/>
          <a:p>
            <a:pPr algn="ctr" indent="0" marL="0">
              <a:lnSpc>
                <a:spcPts val="9000"/>
              </a:lnSpc>
              <a:buNone/>
            </a:pPr>
            <a:r>
              <a:rPr lang="en-US" sz="6000" b="1" dirty="0">
                <a:solidFill>
                  <a:srgbClr val="4F8CFF"/>
                </a:solidFill>
                <a:latin typeface="Instrument Serif" pitchFamily="34" charset="0"/>
                <a:ea typeface="Instrument Serif" pitchFamily="34" charset="-122"/>
                <a:cs typeface="Instrument Serif" pitchFamily="34" charset="-120"/>
              </a:rPr>
              <a:t>Phát triển nhân sự IVI trong thời đại dự án vận hành cùng nhiều AI Agent</a:t>
            </a:r>
            <a:endParaRPr lang="en-US" sz="6000" dirty="0"/>
          </a:p>
        </p:txBody>
      </p:sp>
      <p:sp>
        <p:nvSpPr>
          <p:cNvPr id="4" name="Text 2"/>
          <p:cNvSpPr/>
          <p:nvPr/>
        </p:nvSpPr>
        <p:spPr>
          <a:xfrm>
            <a:off x="495300" y="3988891"/>
            <a:ext cx="8153400" cy="857250"/>
          </a:xfrm>
          <a:prstGeom prst="rect">
            <a:avLst/>
          </a:prstGeom>
          <a:noFill/>
          <a:ln/>
        </p:spPr>
        <p:txBody>
          <a:bodyPr wrap="square" lIns="0" tIns="0" rIns="0" bIns="0" rtlCol="0" anchor="t"/>
          <a:lstStyle/>
          <a:p>
            <a:pPr algn="ctr" indent="0" marL="0">
              <a:lnSpc>
                <a:spcPts val="2250"/>
              </a:lnSpc>
              <a:buNone/>
            </a:pPr>
            <a:r>
              <a:rPr lang="en-US" sz="1500" dirty="0">
                <a:solidFill>
                  <a:srgbClr val="C8D4E8"/>
                </a:solidFill>
                <a:latin typeface="Inter" pitchFamily="34" charset="0"/>
                <a:ea typeface="Inter" pitchFamily="34" charset="-122"/>
                <a:cs typeface="Inter" pitchFamily="34" charset="-120"/>
              </a:rPr>
              <a:t>Tập trung vào hai điểm chạm có ROI rõ nhất cho team kỹ thuật IVI: code review và test. Mục tiêu là giảm effort lặp lại, tăng độ phủ kiểm tra và giúp lead bắt rủi ro sớm hơn trong delivery.</a:t>
            </a:r>
            <a:endParaRPr lang="en-US" sz="1500" dirty="0"/>
          </a:p>
        </p:txBody>
      </p:sp>
      <p:sp>
        <p:nvSpPr>
          <p:cNvPr id="5" name="Text 3"/>
          <p:cNvSpPr/>
          <p:nvPr/>
        </p:nvSpPr>
        <p:spPr>
          <a:xfrm>
            <a:off x="413766" y="5036641"/>
            <a:ext cx="8316468" cy="228600"/>
          </a:xfrm>
          <a:prstGeom prst="rect">
            <a:avLst/>
          </a:prstGeom>
          <a:noFill/>
          <a:ln/>
        </p:spPr>
        <p:txBody>
          <a:bodyPr wrap="square" lIns="0" tIns="0" rIns="0" bIns="0" rtlCol="0" anchor="t"/>
          <a:lstStyle/>
          <a:p>
            <a:pPr algn="ctr" indent="0" marL="0">
              <a:lnSpc>
                <a:spcPts val="1800"/>
              </a:lnSpc>
              <a:buNone/>
            </a:pPr>
            <a:r>
              <a:rPr lang="en-US" sz="1200" dirty="0">
                <a:solidFill>
                  <a:srgbClr val="91A4C6"/>
                </a:solidFill>
                <a:latin typeface="Inter" pitchFamily="34" charset="0"/>
                <a:ea typeface="Inter" pitchFamily="34" charset="-122"/>
                <a:cs typeface="Inter" pitchFamily="34" charset="-120"/>
              </a:rPr>
              <a:t>Use case thực thi cho tech lead và squad lead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1280368"/>
            <a:ext cx="7676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Bối cảnh</a:t>
            </a:r>
            <a:endParaRPr lang="en-US" sz="960" dirty="0"/>
          </a:p>
        </p:txBody>
      </p:sp>
      <p:sp>
        <p:nvSpPr>
          <p:cNvPr id="3" name="Text 1"/>
          <p:cNvSpPr/>
          <p:nvPr/>
        </p:nvSpPr>
        <p:spPr>
          <a:xfrm>
            <a:off x="495300" y="849064"/>
            <a:ext cx="3962400" cy="2673102"/>
          </a:xfrm>
          <a:prstGeom prst="roundRect">
            <a:avLst>
              <a:gd name="adj" fmla="val 75256"/>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686300" y="849064"/>
            <a:ext cx="3962400" cy="2673102"/>
          </a:xfrm>
          <a:prstGeom prst="roundRect">
            <a:avLst>
              <a:gd name="adj" fmla="val 75256"/>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495300" y="3750766"/>
            <a:ext cx="3962400" cy="2673102"/>
          </a:xfrm>
          <a:prstGeom prst="roundRect">
            <a:avLst>
              <a:gd name="adj" fmla="val 75256"/>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686300" y="3750766"/>
            <a:ext cx="3962400" cy="2673102"/>
          </a:xfrm>
          <a:prstGeom prst="roundRect">
            <a:avLst>
              <a:gd name="adj" fmla="val 75256"/>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495300" y="-789236"/>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Vì sao technical lead nên ưu tiên AI ở code review và test</a:t>
            </a:r>
            <a:endParaRPr lang="en-US" sz="3600" dirty="0"/>
          </a:p>
        </p:txBody>
      </p:sp>
      <p:sp>
        <p:nvSpPr>
          <p:cNvPr id="8" name="Text 6"/>
          <p:cNvSpPr/>
          <p:nvPr/>
        </p:nvSpPr>
        <p:spPr>
          <a:xfrm>
            <a:off x="771525" y="1125289"/>
            <a:ext cx="3478149" cy="342900"/>
          </a:xfrm>
          <a:prstGeom prst="rect">
            <a:avLst/>
          </a:prstGeom>
          <a:noFill/>
          <a:ln/>
        </p:spPr>
        <p:txBody>
          <a:bodyPr wrap="square" lIns="0" tIns="0" rIns="0" bIns="0" rtlCol="0" anchor="t"/>
          <a:lstStyle/>
          <a:p>
            <a:pPr indent="0" marL="0">
              <a:lnSpc>
                <a:spcPts val="2700"/>
              </a:lnSpc>
              <a:buNone/>
            </a:pPr>
            <a:r>
              <a:rPr lang="en-US" sz="2250" dirty="0">
                <a:solidFill>
                  <a:srgbClr val="EEF4FF"/>
                </a:solidFill>
                <a:latin typeface="Inter" pitchFamily="34" charset="0"/>
                <a:ea typeface="Inter" pitchFamily="34" charset="-122"/>
                <a:cs typeface="Inter" pitchFamily="34" charset="-120"/>
              </a:rPr>
              <a:t>🚗</a:t>
            </a:r>
            <a:endParaRPr lang="en-US" sz="2250" dirty="0"/>
          </a:p>
        </p:txBody>
      </p:sp>
      <p:sp>
        <p:nvSpPr>
          <p:cNvPr id="9" name="Text 7"/>
          <p:cNvSpPr/>
          <p:nvPr/>
        </p:nvSpPr>
        <p:spPr>
          <a:xfrm>
            <a:off x="771525" y="1582489"/>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Áp lực review và test tăng nhanh theo độ phức tạp SDV</a:t>
            </a:r>
            <a:endParaRPr lang="en-US" sz="1500" dirty="0"/>
          </a:p>
        </p:txBody>
      </p:sp>
      <p:sp>
        <p:nvSpPr>
          <p:cNvPr id="10" name="Text 8"/>
          <p:cNvSpPr/>
          <p:nvPr/>
        </p:nvSpPr>
        <p:spPr>
          <a:xfrm>
            <a:off x="771525" y="2230189"/>
            <a:ext cx="3409950" cy="101575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Bài toán của khách hàng đang dịch rất nhanh sang SDV: tính năng lên xe nhiều hơn, cập nhật phần mềm liên tục hơn, kỳ vọng time-to-market ngắn hơn. Điều đó kéo theo áp lực trực tiếp lên delivery, khả năng reuse và chất lượng đầu ra của đội IVI.</a:t>
            </a:r>
            <a:endParaRPr lang="en-US" sz="1104" dirty="0"/>
          </a:p>
        </p:txBody>
      </p:sp>
      <p:sp>
        <p:nvSpPr>
          <p:cNvPr id="11" name="Text 9"/>
          <p:cNvSpPr/>
          <p:nvPr/>
        </p:nvSpPr>
        <p:spPr>
          <a:xfrm>
            <a:off x="4962525" y="1125289"/>
            <a:ext cx="3478149" cy="342900"/>
          </a:xfrm>
          <a:prstGeom prst="rect">
            <a:avLst/>
          </a:prstGeom>
          <a:noFill/>
          <a:ln/>
        </p:spPr>
        <p:txBody>
          <a:bodyPr wrap="square" lIns="0" tIns="0" rIns="0" bIns="0" rtlCol="0" anchor="t"/>
          <a:lstStyle/>
          <a:p>
            <a:pPr indent="0" marL="0">
              <a:lnSpc>
                <a:spcPts val="2700"/>
              </a:lnSpc>
              <a:buNone/>
            </a:pPr>
            <a:r>
              <a:rPr lang="en-US" sz="2250" dirty="0">
                <a:solidFill>
                  <a:srgbClr val="EEF4FF"/>
                </a:solidFill>
                <a:latin typeface="Inter" pitchFamily="34" charset="0"/>
                <a:ea typeface="Inter" pitchFamily="34" charset="-122"/>
                <a:cs typeface="Inter" pitchFamily="34" charset="-120"/>
              </a:rPr>
              <a:t>🤖</a:t>
            </a:r>
            <a:endParaRPr lang="en-US" sz="2250" dirty="0"/>
          </a:p>
        </p:txBody>
      </p:sp>
      <p:sp>
        <p:nvSpPr>
          <p:cNvPr id="12" name="Text 10"/>
          <p:cNvSpPr/>
          <p:nvPr/>
        </p:nvSpPr>
        <p:spPr>
          <a:xfrm>
            <a:off x="4962525" y="1582489"/>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AI hỗ trợ tốt nhất ở phần việc lặp nhưng cần ngữ cảnh</a:t>
            </a:r>
            <a:endParaRPr lang="en-US" sz="1500" dirty="0"/>
          </a:p>
        </p:txBody>
      </p:sp>
      <p:sp>
        <p:nvSpPr>
          <p:cNvPr id="13" name="Text 11"/>
          <p:cNvSpPr/>
          <p:nvPr/>
        </p:nvSpPr>
        <p:spPr>
          <a:xfrm>
            <a:off x="4962525" y="2230189"/>
            <a:ext cx="3409950" cy="101575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AI Agent có thể hỗ trợ nhiều khâu từ requirement, code, tài liệu đến test; nhưng trong thực tế delivery, nếu spec lỏng và review yếu thì AI chỉ làm đội tạo output nhanh hơn, chứ không làm dự án chắc hơn.</a:t>
            </a:r>
            <a:endParaRPr lang="en-US" sz="1104" dirty="0"/>
          </a:p>
        </p:txBody>
      </p:sp>
      <p:sp>
        <p:nvSpPr>
          <p:cNvPr id="14" name="Text 12"/>
          <p:cNvSpPr/>
          <p:nvPr/>
        </p:nvSpPr>
        <p:spPr>
          <a:xfrm>
            <a:off x="771525" y="4026991"/>
            <a:ext cx="3478149" cy="342900"/>
          </a:xfrm>
          <a:prstGeom prst="rect">
            <a:avLst/>
          </a:prstGeom>
          <a:noFill/>
          <a:ln/>
        </p:spPr>
        <p:txBody>
          <a:bodyPr wrap="square" lIns="0" tIns="0" rIns="0" bIns="0" rtlCol="0" anchor="t"/>
          <a:lstStyle/>
          <a:p>
            <a:pPr indent="0" marL="0">
              <a:lnSpc>
                <a:spcPts val="2700"/>
              </a:lnSpc>
              <a:buNone/>
            </a:pPr>
            <a:r>
              <a:rPr lang="en-US" sz="2250" dirty="0">
                <a:solidFill>
                  <a:srgbClr val="EEF4FF"/>
                </a:solidFill>
                <a:latin typeface="Inter" pitchFamily="34" charset="0"/>
                <a:ea typeface="Inter" pitchFamily="34" charset="-122"/>
                <a:cs typeface="Inter" pitchFamily="34" charset="-120"/>
              </a:rPr>
              <a:t>📱</a:t>
            </a:r>
            <a:endParaRPr lang="en-US" sz="2250" dirty="0"/>
          </a:p>
        </p:txBody>
      </p:sp>
      <p:sp>
        <p:nvSpPr>
          <p:cNvPr id="15" name="Text 13"/>
          <p:cNvSpPr/>
          <p:nvPr/>
        </p:nvSpPr>
        <p:spPr>
          <a:xfrm>
            <a:off x="771525" y="4484191"/>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IVI có nhiều bề mặt lỗi và dependency chéo</a:t>
            </a:r>
            <a:endParaRPr lang="en-US" sz="1500" dirty="0"/>
          </a:p>
        </p:txBody>
      </p:sp>
      <p:sp>
        <p:nvSpPr>
          <p:cNvPr id="16" name="Text 14"/>
          <p:cNvSpPr/>
          <p:nvPr/>
        </p:nvSpPr>
        <p:spPr>
          <a:xfrm>
            <a:off x="771525" y="5131891"/>
            <a:ext cx="3409950" cy="101575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IVI là chỗ giao nhau của HMI, Android/AAOS, connectivity, navigation, middleware, Vehicle HAL và OTA; nghĩa là mọi điểm yếu về phối hợp team, spec hay integration đều lộ ra rất nhanh trên dự án thực tế.</a:t>
            </a:r>
            <a:endParaRPr lang="en-US" sz="1104" dirty="0"/>
          </a:p>
        </p:txBody>
      </p:sp>
      <p:sp>
        <p:nvSpPr>
          <p:cNvPr id="17" name="Text 15"/>
          <p:cNvSpPr/>
          <p:nvPr/>
        </p:nvSpPr>
        <p:spPr>
          <a:xfrm>
            <a:off x="4962525" y="4026991"/>
            <a:ext cx="3478149" cy="342900"/>
          </a:xfrm>
          <a:prstGeom prst="rect">
            <a:avLst/>
          </a:prstGeom>
          <a:noFill/>
          <a:ln/>
        </p:spPr>
        <p:txBody>
          <a:bodyPr wrap="square" lIns="0" tIns="0" rIns="0" bIns="0" rtlCol="0" anchor="t"/>
          <a:lstStyle/>
          <a:p>
            <a:pPr indent="0" marL="0">
              <a:lnSpc>
                <a:spcPts val="2700"/>
              </a:lnSpc>
              <a:buNone/>
            </a:pPr>
            <a:r>
              <a:rPr lang="en-US" sz="2250" dirty="0">
                <a:solidFill>
                  <a:srgbClr val="EEF4FF"/>
                </a:solidFill>
                <a:latin typeface="Inter" pitchFamily="34" charset="0"/>
                <a:ea typeface="Inter" pitchFamily="34" charset="-122"/>
                <a:cs typeface="Inter" pitchFamily="34" charset="-120"/>
              </a:rPr>
              <a:t>🏁</a:t>
            </a:r>
            <a:endParaRPr lang="en-US" sz="2250" dirty="0"/>
          </a:p>
        </p:txBody>
      </p:sp>
      <p:sp>
        <p:nvSpPr>
          <p:cNvPr id="18" name="Text 16"/>
          <p:cNvSpPr/>
          <p:nvPr/>
        </p:nvSpPr>
        <p:spPr>
          <a:xfrm>
            <a:off x="4962525" y="4484191"/>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FPT Automotive đã có nền để đẩy automation sâu hơn</a:t>
            </a:r>
            <a:endParaRPr lang="en-US" sz="1500" dirty="0"/>
          </a:p>
        </p:txBody>
      </p:sp>
      <p:sp>
        <p:nvSpPr>
          <p:cNvPr id="19" name="Text 17"/>
          <p:cNvSpPr/>
          <p:nvPr/>
        </p:nvSpPr>
        <p:spPr>
          <a:xfrm>
            <a:off x="4962525" y="5131891"/>
            <a:ext cx="3409950" cy="101575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FPT Automotive công bố năng lực end-to-end cho SDV và từng thực hiện dự án full-stack IVI từ application layer đến Android framework và Vehicle HAL, hoàn thành sớm hơn kế hoạch một tháng.</a:t>
            </a:r>
            <a:endParaRPr lang="en-US" sz="110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733127"/>
            <a:ext cx="1462980"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Luận điểm trung tâm</a:t>
            </a:r>
            <a:endParaRPr lang="en-US" sz="960" dirty="0"/>
          </a:p>
        </p:txBody>
      </p:sp>
      <p:sp>
        <p:nvSpPr>
          <p:cNvPr id="3" name="Text 1"/>
          <p:cNvSpPr/>
          <p:nvPr/>
        </p:nvSpPr>
        <p:spPr>
          <a:xfrm>
            <a:off x="495300" y="1358205"/>
            <a:ext cx="2565350" cy="2977902"/>
          </a:xfrm>
          <a:prstGeom prst="roundRect">
            <a:avLst>
              <a:gd name="adj" fmla="val 7841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3289250" y="1358205"/>
            <a:ext cx="2565350" cy="2977902"/>
          </a:xfrm>
          <a:prstGeom prst="roundRect">
            <a:avLst>
              <a:gd name="adj" fmla="val 7841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6083201" y="1358205"/>
            <a:ext cx="2565499" cy="2977902"/>
          </a:xfrm>
          <a:prstGeom prst="roundRect">
            <a:avLst>
              <a:gd name="adj" fmla="val 7841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95300" y="4564707"/>
            <a:ext cx="8153400" cy="1312069"/>
          </a:xfrm>
          <a:prstGeom prst="roundRect">
            <a:avLst>
              <a:gd name="adj" fmla="val 15332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495300" y="-241995"/>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Góc nhìn lead: AI phải giúp review chắc hơn và test sâu hơn</a:t>
            </a:r>
            <a:endParaRPr lang="en-US" sz="3600" dirty="0"/>
          </a:p>
        </p:txBody>
      </p:sp>
      <p:sp>
        <p:nvSpPr>
          <p:cNvPr id="8" name="Text 6"/>
          <p:cNvSpPr/>
          <p:nvPr/>
        </p:nvSpPr>
        <p:spPr>
          <a:xfrm>
            <a:off x="751396" y="1634430"/>
            <a:ext cx="2053158" cy="457200"/>
          </a:xfrm>
          <a:prstGeom prst="rect">
            <a:avLst/>
          </a:prstGeom>
          <a:noFill/>
          <a:ln/>
        </p:spPr>
        <p:txBody>
          <a:bodyPr wrap="square" lIns="0" tIns="0" rIns="0" bIns="0" rtlCol="0" anchor="t"/>
          <a:lstStyle/>
          <a:p>
            <a:pPr algn="ctr" indent="0" marL="0">
              <a:lnSpc>
                <a:spcPts val="3600"/>
              </a:lnSpc>
              <a:buNone/>
            </a:pPr>
            <a:r>
              <a:rPr lang="en-US" sz="3600" b="1" dirty="0">
                <a:solidFill>
                  <a:srgbClr val="4F8CFF"/>
                </a:solidFill>
                <a:latin typeface="Inter" pitchFamily="34" charset="0"/>
                <a:ea typeface="Inter" pitchFamily="34" charset="-122"/>
                <a:cs typeface="Inter" pitchFamily="34" charset="-120"/>
              </a:rPr>
              <a:t>1</a:t>
            </a:r>
            <a:endParaRPr lang="en-US" sz="3600" dirty="0"/>
          </a:p>
        </p:txBody>
      </p:sp>
      <p:sp>
        <p:nvSpPr>
          <p:cNvPr id="9" name="Text 7"/>
          <p:cNvSpPr/>
          <p:nvPr/>
        </p:nvSpPr>
        <p:spPr>
          <a:xfrm>
            <a:off x="771525" y="2167830"/>
            <a:ext cx="2012900" cy="5334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Review theo risk thay vì đọc tay toàn bộ</a:t>
            </a:r>
            <a:endParaRPr lang="en-US" sz="1350" dirty="0"/>
          </a:p>
        </p:txBody>
      </p:sp>
      <p:sp>
        <p:nvSpPr>
          <p:cNvPr id="10" name="Text 8"/>
          <p:cNvSpPr/>
          <p:nvPr/>
        </p:nvSpPr>
        <p:spPr>
          <a:xfrm>
            <a:off x="771525" y="2777430"/>
            <a:ext cx="2012900" cy="81260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Lead dùng AI để lọc vùng thay đổi nguy hiểm, đối chiếu guideline và ưu tiên chỗ cần review sâu bằng con người.</a:t>
            </a:r>
            <a:endParaRPr lang="en-US" sz="1104" dirty="0"/>
          </a:p>
        </p:txBody>
      </p:sp>
      <p:sp>
        <p:nvSpPr>
          <p:cNvPr id="11" name="Text 9"/>
          <p:cNvSpPr/>
          <p:nvPr/>
        </p:nvSpPr>
        <p:spPr>
          <a:xfrm>
            <a:off x="3545346" y="1634430"/>
            <a:ext cx="2053158" cy="457200"/>
          </a:xfrm>
          <a:prstGeom prst="rect">
            <a:avLst/>
          </a:prstGeom>
          <a:noFill/>
          <a:ln/>
        </p:spPr>
        <p:txBody>
          <a:bodyPr wrap="square" lIns="0" tIns="0" rIns="0" bIns="0" rtlCol="0" anchor="t"/>
          <a:lstStyle/>
          <a:p>
            <a:pPr algn="ctr" indent="0" marL="0">
              <a:lnSpc>
                <a:spcPts val="3600"/>
              </a:lnSpc>
              <a:buNone/>
            </a:pPr>
            <a:r>
              <a:rPr lang="en-US" sz="3600" b="1" dirty="0">
                <a:solidFill>
                  <a:srgbClr val="00D2B8"/>
                </a:solidFill>
                <a:latin typeface="Inter" pitchFamily="34" charset="0"/>
                <a:ea typeface="Inter" pitchFamily="34" charset="-122"/>
                <a:cs typeface="Inter" pitchFamily="34" charset="-120"/>
              </a:rPr>
              <a:t>2</a:t>
            </a:r>
            <a:endParaRPr lang="en-US" sz="3600" dirty="0"/>
          </a:p>
        </p:txBody>
      </p:sp>
      <p:sp>
        <p:nvSpPr>
          <p:cNvPr id="12" name="Text 10"/>
          <p:cNvSpPr/>
          <p:nvPr/>
        </p:nvSpPr>
        <p:spPr>
          <a:xfrm>
            <a:off x="3565475" y="2167830"/>
            <a:ext cx="2012900" cy="5334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Test sinh nhanh nhưng phải truy vết được</a:t>
            </a:r>
            <a:endParaRPr lang="en-US" sz="1350" dirty="0"/>
          </a:p>
        </p:txBody>
      </p:sp>
      <p:sp>
        <p:nvSpPr>
          <p:cNvPr id="13" name="Text 11"/>
          <p:cNvSpPr/>
          <p:nvPr/>
        </p:nvSpPr>
        <p:spPr>
          <a:xfrm>
            <a:off x="3565475" y="2777430"/>
            <a:ext cx="2012900" cy="101575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AI có thể sinh test case, test data và draft script nhanh, nhưng mọi output phải bám requirement, expected result và môi trường chạy thật.</a:t>
            </a:r>
            <a:endParaRPr lang="en-US" sz="1104" dirty="0"/>
          </a:p>
        </p:txBody>
      </p:sp>
      <p:sp>
        <p:nvSpPr>
          <p:cNvPr id="14" name="Text 12"/>
          <p:cNvSpPr/>
          <p:nvPr/>
        </p:nvSpPr>
        <p:spPr>
          <a:xfrm>
            <a:off x="6339295" y="1634430"/>
            <a:ext cx="2053310" cy="457200"/>
          </a:xfrm>
          <a:prstGeom prst="rect">
            <a:avLst/>
          </a:prstGeom>
          <a:noFill/>
          <a:ln/>
        </p:spPr>
        <p:txBody>
          <a:bodyPr wrap="square" lIns="0" tIns="0" rIns="0" bIns="0" rtlCol="0" anchor="t"/>
          <a:lstStyle/>
          <a:p>
            <a:pPr algn="ctr" indent="0" marL="0">
              <a:lnSpc>
                <a:spcPts val="3600"/>
              </a:lnSpc>
              <a:buNone/>
            </a:pPr>
            <a:r>
              <a:rPr lang="en-US" sz="3600" b="1" dirty="0">
                <a:solidFill>
                  <a:srgbClr val="9B7BFF"/>
                </a:solidFill>
                <a:latin typeface="Inter" pitchFamily="34" charset="0"/>
                <a:ea typeface="Inter" pitchFamily="34" charset="-122"/>
                <a:cs typeface="Inter" pitchFamily="34" charset="-120"/>
              </a:rPr>
              <a:t>3</a:t>
            </a:r>
            <a:endParaRPr lang="en-US" sz="3600" dirty="0"/>
          </a:p>
        </p:txBody>
      </p:sp>
      <p:sp>
        <p:nvSpPr>
          <p:cNvPr id="15" name="Text 13"/>
          <p:cNvSpPr/>
          <p:nvPr/>
        </p:nvSpPr>
        <p:spPr>
          <a:xfrm>
            <a:off x="6359426" y="2167830"/>
            <a:ext cx="2013049" cy="8001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Biến kinh nghiệm của lead thành asset dùng chung</a:t>
            </a:r>
            <a:endParaRPr lang="en-US" sz="1350" dirty="0"/>
          </a:p>
        </p:txBody>
      </p:sp>
      <p:sp>
        <p:nvSpPr>
          <p:cNvPr id="16" name="Text 14"/>
          <p:cNvSpPr/>
          <p:nvPr/>
        </p:nvSpPr>
        <p:spPr>
          <a:xfrm>
            <a:off x="6359426" y="3044130"/>
            <a:ext cx="2013049" cy="101575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Checklist review, bug pattern, prompt pack và regression template cần được chuẩn hóa để team nào cũng tận dụng được.</a:t>
            </a:r>
            <a:endParaRPr lang="en-US" sz="1104" dirty="0"/>
          </a:p>
        </p:txBody>
      </p:sp>
      <p:sp>
        <p:nvSpPr>
          <p:cNvPr id="17" name="Text 15"/>
          <p:cNvSpPr/>
          <p:nvPr/>
        </p:nvSpPr>
        <p:spPr>
          <a:xfrm>
            <a:off x="733425" y="4802832"/>
            <a:ext cx="7677150" cy="835819"/>
          </a:xfrm>
          <a:prstGeom prst="rect">
            <a:avLst/>
          </a:prstGeom>
          <a:noFill/>
          <a:ln/>
        </p:spPr>
        <p:txBody>
          <a:bodyPr wrap="square" lIns="0" tIns="0" rIns="0" bIns="0" rtlCol="0" anchor="t"/>
          <a:lstStyle/>
          <a:p>
            <a:pPr indent="0" marL="0">
              <a:lnSpc>
                <a:spcPts val="2194"/>
              </a:lnSpc>
              <a:buNone/>
            </a:pPr>
            <a:r>
              <a:rPr lang="en-US" sz="1350" dirty="0">
                <a:solidFill>
                  <a:srgbClr val="C8D4E8"/>
                </a:solidFill>
                <a:latin typeface="Inter" pitchFamily="34" charset="0"/>
                <a:ea typeface="Inter" pitchFamily="34" charset="-122"/>
                <a:cs typeface="Inter" pitchFamily="34" charset="-120"/>
              </a:rPr>
              <a:t>Thông điệp nội bộ cần thống nhất: AI không làm thay đội IVI. Việc của mình là tổ chức lại cách làm để kỹ sư lên vai trò cao hơn, lead quản được chất lượng tốt hơn và đơn vị tạo được năng suất bền vững hơn.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539800"/>
            <a:ext cx="139630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Use case trọng tâm</a:t>
            </a:r>
            <a:endParaRPr lang="en-US" sz="960" dirty="0"/>
          </a:p>
        </p:txBody>
      </p:sp>
      <p:sp>
        <p:nvSpPr>
          <p:cNvPr id="3" name="Text 1"/>
          <p:cNvSpPr/>
          <p:nvPr/>
        </p:nvSpPr>
        <p:spPr>
          <a:xfrm>
            <a:off x="495300" y="903833"/>
            <a:ext cx="3962400" cy="3541365"/>
          </a:xfrm>
          <a:prstGeom prst="roundRect">
            <a:avLst>
              <a:gd name="adj" fmla="val 56805"/>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686300" y="903833"/>
            <a:ext cx="3962400" cy="3541365"/>
          </a:xfrm>
          <a:prstGeom prst="roundRect">
            <a:avLst>
              <a:gd name="adj" fmla="val 56805"/>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495300" y="4673798"/>
            <a:ext cx="8153400" cy="1009650"/>
          </a:xfrm>
          <a:prstGeom prst="roundRect">
            <a:avLst>
              <a:gd name="adj" fmla="val 199245"/>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95300" y="-48667"/>
            <a:ext cx="8316468" cy="6858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AI cho code review: nên dùng ở đâu trong team IVI</a:t>
            </a:r>
            <a:endParaRPr lang="en-US" sz="3600" dirty="0"/>
          </a:p>
        </p:txBody>
      </p:sp>
      <p:sp>
        <p:nvSpPr>
          <p:cNvPr id="7" name="Text 5"/>
          <p:cNvSpPr/>
          <p:nvPr/>
        </p:nvSpPr>
        <p:spPr>
          <a:xfrm>
            <a:off x="771525" y="1180058"/>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4 việc AI làm tốt cho reviewer</a:t>
            </a:r>
            <a:endParaRPr lang="en-US" sz="1500" dirty="0"/>
          </a:p>
        </p:txBody>
      </p:sp>
      <p:sp>
        <p:nvSpPr>
          <p:cNvPr id="8" name="Text 6"/>
          <p:cNvSpPr/>
          <p:nvPr/>
        </p:nvSpPr>
        <p:spPr>
          <a:xfrm>
            <a:off x="771525" y="1599158"/>
            <a:ext cx="3409950" cy="2486025"/>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So sánh patch với coding guideline, naming rule, null handling, thread-safety và resource cleanup.</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Highlight vùng thay đổi dễ vỡ: lifecycle Android, service binding, callback concurrency, permission flow.</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Đối chiếu code với requirement hoặc ticket để chỉ ra chỗ có nguy cơ lệch intent.</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Tóm tắt thay đổi theo module để lead không phải đọc tay toàn bộ commit trước khi vào review sâu.</a:t>
            </a:r>
            <a:endParaRPr lang="en-US" sz="1104" dirty="0"/>
          </a:p>
        </p:txBody>
      </p:sp>
      <p:sp>
        <p:nvSpPr>
          <p:cNvPr id="9" name="Text 7"/>
          <p:cNvSpPr/>
          <p:nvPr/>
        </p:nvSpPr>
        <p:spPr>
          <a:xfrm>
            <a:off x="4962525" y="1180058"/>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Những gì reviewer vẫn phải giữ</a:t>
            </a:r>
            <a:endParaRPr lang="en-US" sz="1500" dirty="0"/>
          </a:p>
        </p:txBody>
      </p:sp>
      <p:sp>
        <p:nvSpPr>
          <p:cNvPr id="10" name="Text 8"/>
          <p:cNvSpPr/>
          <p:nvPr/>
        </p:nvSpPr>
        <p:spPr>
          <a:xfrm>
            <a:off x="4962525" y="1599158"/>
            <a:ext cx="3409950" cy="2486025"/>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Phán đoán design trade-off, backward compatibility, latency và memory impact trên target thật.</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Kiểm tra boundary với HAL, middleware, app layer và ảnh hưởng tới integration path.</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Đánh giá mức độ an toàn khi merge: rollback plan, regression risk, test evidence và release timing.</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Quyết định cuối cùng với các lỗi logic sâu, bug race condition và mismatch hành vi thực tế trên xe.</a:t>
            </a:r>
            <a:endParaRPr lang="en-US" sz="1104" dirty="0"/>
          </a:p>
        </p:txBody>
      </p:sp>
      <p:sp>
        <p:nvSpPr>
          <p:cNvPr id="11" name="Text 9"/>
          <p:cNvSpPr/>
          <p:nvPr/>
        </p:nvSpPr>
        <p:spPr>
          <a:xfrm>
            <a:off x="733425" y="4911923"/>
            <a:ext cx="7677150" cy="533400"/>
          </a:xfrm>
          <a:prstGeom prst="rect">
            <a:avLst/>
          </a:prstGeom>
          <a:noFill/>
          <a:ln/>
        </p:spPr>
        <p:txBody>
          <a:bodyPr wrap="square" lIns="0" tIns="0" rIns="0" bIns="0" rtlCol="0" anchor="t"/>
          <a:lstStyle/>
          <a:p>
            <a:pPr indent="0" marL="0">
              <a:lnSpc>
                <a:spcPts val="2100"/>
              </a:lnSpc>
              <a:buNone/>
            </a:pPr>
            <a:r>
              <a:rPr lang="en-US" sz="1350" dirty="0">
                <a:solidFill>
                  <a:srgbClr val="C8D4E8"/>
                </a:solidFill>
                <a:latin typeface="Inter" pitchFamily="34" charset="0"/>
                <a:ea typeface="Inter" pitchFamily="34" charset="-122"/>
                <a:cs typeface="Inter" pitchFamily="34" charset="-120"/>
              </a:rPr>
              <a:t>Thông điệp cho lead: dùng AI để rút ngắn phần review cơ học, dành thời gian con người cho chỗ có rủi ro kiến trúc, integration và chất lượng release.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543818"/>
            <a:ext cx="139630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Use case trọng tâm</a:t>
            </a:r>
            <a:endParaRPr lang="en-US" sz="960" dirty="0"/>
          </a:p>
        </p:txBody>
      </p:sp>
      <p:sp>
        <p:nvSpPr>
          <p:cNvPr id="3" name="Text 1"/>
          <p:cNvSpPr/>
          <p:nvPr/>
        </p:nvSpPr>
        <p:spPr>
          <a:xfrm>
            <a:off x="495300" y="1585615"/>
            <a:ext cx="1508671" cy="2330202"/>
          </a:xfrm>
          <a:prstGeom prst="roundRect">
            <a:avLst>
              <a:gd name="adj" fmla="val 13334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2156371" y="1585615"/>
            <a:ext cx="1508820" cy="2330202"/>
          </a:xfrm>
          <a:prstGeom prst="roundRect">
            <a:avLst>
              <a:gd name="adj" fmla="val 13332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3817590" y="1585615"/>
            <a:ext cx="1508671" cy="2330202"/>
          </a:xfrm>
          <a:prstGeom prst="roundRect">
            <a:avLst>
              <a:gd name="adj" fmla="val 13334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5478661" y="1585615"/>
            <a:ext cx="1508820" cy="2330202"/>
          </a:xfrm>
          <a:prstGeom prst="roundRect">
            <a:avLst>
              <a:gd name="adj" fmla="val 133328"/>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7139880" y="1585615"/>
            <a:ext cx="1508671" cy="2330202"/>
          </a:xfrm>
          <a:prstGeom prst="roundRect">
            <a:avLst>
              <a:gd name="adj" fmla="val 13334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495300" y="4144417"/>
            <a:ext cx="8153400" cy="1543050"/>
          </a:xfrm>
          <a:prstGeom prst="roundRect">
            <a:avLst>
              <a:gd name="adj" fmla="val 130370"/>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9" name="Text 7"/>
          <p:cNvSpPr/>
          <p:nvPr/>
        </p:nvSpPr>
        <p:spPr>
          <a:xfrm>
            <a:off x="495300" y="-52685"/>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AI cho test: cách tăng tốc nhưng vẫn giữ traceability</a:t>
            </a:r>
            <a:endParaRPr lang="en-US" sz="3600" dirty="0"/>
          </a:p>
        </p:txBody>
      </p:sp>
      <p:sp>
        <p:nvSpPr>
          <p:cNvPr id="10" name="Text 8"/>
          <p:cNvSpPr/>
          <p:nvPr/>
        </p:nvSpPr>
        <p:spPr>
          <a:xfrm>
            <a:off x="695325" y="1785640"/>
            <a:ext cx="1130793"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1" name="Text 9"/>
          <p:cNvSpPr/>
          <p:nvPr/>
        </p:nvSpPr>
        <p:spPr>
          <a:xfrm>
            <a:off x="695325" y="2166640"/>
            <a:ext cx="1108621" cy="457200"/>
          </a:xfrm>
          <a:prstGeom prst="rect">
            <a:avLst/>
          </a:prstGeom>
          <a:noFill/>
          <a:ln/>
        </p:spPr>
        <p:txBody>
          <a:bodyPr wrap="square" lIns="0" tIns="0" rIns="0" bIns="0" rtlCol="0" anchor="t"/>
          <a:lstStyle/>
          <a:p>
            <a:pPr indent="0" marL="0">
              <a:lnSpc>
                <a:spcPts val="1800"/>
              </a:lnSpc>
              <a:buNone/>
            </a:pPr>
            <a:r>
              <a:rPr lang="en-US" sz="1200" b="1" dirty="0">
                <a:solidFill>
                  <a:srgbClr val="EEF4FF"/>
                </a:solidFill>
                <a:latin typeface="Inter" pitchFamily="34" charset="0"/>
                <a:ea typeface="Inter" pitchFamily="34" charset="-122"/>
                <a:cs typeface="Inter" pitchFamily="34" charset="-120"/>
              </a:rPr>
              <a:t>Sinh draft test case</a:t>
            </a:r>
            <a:endParaRPr lang="en-US" sz="1200" dirty="0"/>
          </a:p>
        </p:txBody>
      </p:sp>
      <p:sp>
        <p:nvSpPr>
          <p:cNvPr id="12" name="Text 10"/>
          <p:cNvSpPr/>
          <p:nvPr/>
        </p:nvSpPr>
        <p:spPr>
          <a:xfrm>
            <a:off x="695325" y="2700040"/>
            <a:ext cx="1108621" cy="101575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Từ requirement hoặc bug fix note sang checklist test ban đầu.</a:t>
            </a:r>
            <a:endParaRPr lang="en-US" sz="1104" dirty="0"/>
          </a:p>
        </p:txBody>
      </p:sp>
      <p:sp>
        <p:nvSpPr>
          <p:cNvPr id="13" name="Text 11"/>
          <p:cNvSpPr/>
          <p:nvPr/>
        </p:nvSpPr>
        <p:spPr>
          <a:xfrm>
            <a:off x="2356396" y="1785640"/>
            <a:ext cx="1130945"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4" name="Text 12"/>
          <p:cNvSpPr/>
          <p:nvPr/>
        </p:nvSpPr>
        <p:spPr>
          <a:xfrm>
            <a:off x="2356396" y="2166640"/>
            <a:ext cx="1108770" cy="457200"/>
          </a:xfrm>
          <a:prstGeom prst="rect">
            <a:avLst/>
          </a:prstGeom>
          <a:noFill/>
          <a:ln/>
        </p:spPr>
        <p:txBody>
          <a:bodyPr wrap="square" lIns="0" tIns="0" rIns="0" bIns="0" rtlCol="0" anchor="t"/>
          <a:lstStyle/>
          <a:p>
            <a:pPr indent="0" marL="0">
              <a:lnSpc>
                <a:spcPts val="1800"/>
              </a:lnSpc>
              <a:buNone/>
            </a:pPr>
            <a:r>
              <a:rPr lang="en-US" sz="1200" b="1" dirty="0">
                <a:solidFill>
                  <a:srgbClr val="EEF4FF"/>
                </a:solidFill>
                <a:latin typeface="Inter" pitchFamily="34" charset="0"/>
                <a:ea typeface="Inter" pitchFamily="34" charset="-122"/>
                <a:cs typeface="Inter" pitchFamily="34" charset="-120"/>
              </a:rPr>
              <a:t>Regression suggestion</a:t>
            </a:r>
            <a:endParaRPr lang="en-US" sz="1200" dirty="0"/>
          </a:p>
        </p:txBody>
      </p:sp>
      <p:sp>
        <p:nvSpPr>
          <p:cNvPr id="15" name="Text 13"/>
          <p:cNvSpPr/>
          <p:nvPr/>
        </p:nvSpPr>
        <p:spPr>
          <a:xfrm>
            <a:off x="2356396" y="2700040"/>
            <a:ext cx="110877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Đề xuất module và scenario dễ bị ảnh hưởng theo file đổi.</a:t>
            </a:r>
            <a:endParaRPr lang="en-US" sz="1104" dirty="0"/>
          </a:p>
        </p:txBody>
      </p:sp>
      <p:sp>
        <p:nvSpPr>
          <p:cNvPr id="16" name="Text 14"/>
          <p:cNvSpPr/>
          <p:nvPr/>
        </p:nvSpPr>
        <p:spPr>
          <a:xfrm>
            <a:off x="4017615" y="1785640"/>
            <a:ext cx="1130793"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7" name="Text 15"/>
          <p:cNvSpPr/>
          <p:nvPr/>
        </p:nvSpPr>
        <p:spPr>
          <a:xfrm>
            <a:off x="4017615" y="2166640"/>
            <a:ext cx="1108621" cy="457200"/>
          </a:xfrm>
          <a:prstGeom prst="rect">
            <a:avLst/>
          </a:prstGeom>
          <a:noFill/>
          <a:ln/>
        </p:spPr>
        <p:txBody>
          <a:bodyPr wrap="square" lIns="0" tIns="0" rIns="0" bIns="0" rtlCol="0" anchor="t"/>
          <a:lstStyle/>
          <a:p>
            <a:pPr indent="0" marL="0">
              <a:lnSpc>
                <a:spcPts val="1800"/>
              </a:lnSpc>
              <a:buNone/>
            </a:pPr>
            <a:r>
              <a:rPr lang="en-US" sz="1200" b="1" dirty="0">
                <a:solidFill>
                  <a:srgbClr val="EEF4FF"/>
                </a:solidFill>
                <a:latin typeface="Inter" pitchFamily="34" charset="0"/>
                <a:ea typeface="Inter" pitchFamily="34" charset="-122"/>
                <a:cs typeface="Inter" pitchFamily="34" charset="-120"/>
              </a:rPr>
              <a:t>Sinh draft script</a:t>
            </a:r>
            <a:endParaRPr lang="en-US" sz="1200" dirty="0"/>
          </a:p>
        </p:txBody>
      </p:sp>
      <p:sp>
        <p:nvSpPr>
          <p:cNvPr id="18" name="Text 16"/>
          <p:cNvSpPr/>
          <p:nvPr/>
        </p:nvSpPr>
        <p:spPr>
          <a:xfrm>
            <a:off x="4017615" y="2700040"/>
            <a:ext cx="1108621"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Tạo skeleton unit test, mock, stub hoặc test data ban đầu.</a:t>
            </a:r>
            <a:endParaRPr lang="en-US" sz="1104" dirty="0"/>
          </a:p>
        </p:txBody>
      </p:sp>
      <p:sp>
        <p:nvSpPr>
          <p:cNvPr id="19" name="Text 17"/>
          <p:cNvSpPr/>
          <p:nvPr/>
        </p:nvSpPr>
        <p:spPr>
          <a:xfrm>
            <a:off x="5678686" y="1785640"/>
            <a:ext cx="1130945"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20" name="Text 18"/>
          <p:cNvSpPr/>
          <p:nvPr/>
        </p:nvSpPr>
        <p:spPr>
          <a:xfrm>
            <a:off x="5678686" y="2166640"/>
            <a:ext cx="1108770" cy="457200"/>
          </a:xfrm>
          <a:prstGeom prst="rect">
            <a:avLst/>
          </a:prstGeom>
          <a:noFill/>
          <a:ln/>
        </p:spPr>
        <p:txBody>
          <a:bodyPr wrap="square" lIns="0" tIns="0" rIns="0" bIns="0" rtlCol="0" anchor="t"/>
          <a:lstStyle/>
          <a:p>
            <a:pPr indent="0" marL="0">
              <a:lnSpc>
                <a:spcPts val="1800"/>
              </a:lnSpc>
              <a:buNone/>
            </a:pPr>
            <a:r>
              <a:rPr lang="en-US" sz="1200" b="1" dirty="0">
                <a:solidFill>
                  <a:srgbClr val="EEF4FF"/>
                </a:solidFill>
                <a:latin typeface="Inter" pitchFamily="34" charset="0"/>
                <a:ea typeface="Inter" pitchFamily="34" charset="-122"/>
                <a:cs typeface="Inter" pitchFamily="34" charset="-120"/>
              </a:rPr>
              <a:t>Phân tích coverage gap</a:t>
            </a:r>
            <a:endParaRPr lang="en-US" sz="1200" dirty="0"/>
          </a:p>
        </p:txBody>
      </p:sp>
      <p:sp>
        <p:nvSpPr>
          <p:cNvPr id="21" name="Text 19"/>
          <p:cNvSpPr/>
          <p:nvPr/>
        </p:nvSpPr>
        <p:spPr>
          <a:xfrm>
            <a:off x="5678686" y="2700040"/>
            <a:ext cx="110877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So chiếu requirement với test hiện có để chỉ ra chỗ thiếu.</a:t>
            </a:r>
            <a:endParaRPr lang="en-US" sz="1104" dirty="0"/>
          </a:p>
        </p:txBody>
      </p:sp>
      <p:sp>
        <p:nvSpPr>
          <p:cNvPr id="22" name="Text 20"/>
          <p:cNvSpPr/>
          <p:nvPr/>
        </p:nvSpPr>
        <p:spPr>
          <a:xfrm>
            <a:off x="7339905" y="1785640"/>
            <a:ext cx="1130793"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23" name="Text 21"/>
          <p:cNvSpPr/>
          <p:nvPr/>
        </p:nvSpPr>
        <p:spPr>
          <a:xfrm>
            <a:off x="7339905" y="2166640"/>
            <a:ext cx="1130793" cy="228600"/>
          </a:xfrm>
          <a:prstGeom prst="rect">
            <a:avLst/>
          </a:prstGeom>
          <a:noFill/>
          <a:ln/>
        </p:spPr>
        <p:txBody>
          <a:bodyPr wrap="square" lIns="0" tIns="0" rIns="0" bIns="0" rtlCol="0" anchor="t"/>
          <a:lstStyle/>
          <a:p>
            <a:pPr indent="0" marL="0">
              <a:lnSpc>
                <a:spcPts val="1800"/>
              </a:lnSpc>
              <a:buNone/>
            </a:pPr>
            <a:r>
              <a:rPr lang="en-US" sz="1200" b="1" dirty="0">
                <a:solidFill>
                  <a:srgbClr val="EEF4FF"/>
                </a:solidFill>
                <a:latin typeface="Inter" pitchFamily="34" charset="0"/>
                <a:ea typeface="Inter" pitchFamily="34" charset="-122"/>
                <a:cs typeface="Inter" pitchFamily="34" charset="-120"/>
              </a:rPr>
              <a:t>Triage lỗi lặp</a:t>
            </a:r>
            <a:endParaRPr lang="en-US" sz="1200" dirty="0"/>
          </a:p>
        </p:txBody>
      </p:sp>
      <p:sp>
        <p:nvSpPr>
          <p:cNvPr id="24" name="Text 22"/>
          <p:cNvSpPr/>
          <p:nvPr/>
        </p:nvSpPr>
        <p:spPr>
          <a:xfrm>
            <a:off x="7339905" y="2471440"/>
            <a:ext cx="1108621"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Nhóm lỗi tương tự từ log, ticket và lịch sử regression.</a:t>
            </a:r>
            <a:endParaRPr lang="en-US" sz="1104" dirty="0"/>
          </a:p>
        </p:txBody>
      </p:sp>
      <p:sp>
        <p:nvSpPr>
          <p:cNvPr id="25" name="Text 23"/>
          <p:cNvSpPr/>
          <p:nvPr/>
        </p:nvSpPr>
        <p:spPr>
          <a:xfrm>
            <a:off x="733425" y="4382542"/>
            <a:ext cx="7677150" cy="1066800"/>
          </a:xfrm>
          <a:prstGeom prst="rect">
            <a:avLst/>
          </a:prstGeom>
          <a:noFill/>
          <a:ln/>
        </p:spPr>
        <p:txBody>
          <a:bodyPr wrap="square" lIns="0" tIns="0" rIns="0" bIns="0" rtlCol="0" anchor="t"/>
          <a:lstStyle/>
          <a:p>
            <a:pPr indent="0" marL="0">
              <a:lnSpc>
                <a:spcPts val="2100"/>
              </a:lnSpc>
              <a:buNone/>
            </a:pPr>
            <a:r>
              <a:rPr lang="en-US" sz="1350" dirty="0">
                <a:solidFill>
                  <a:srgbClr val="C8D4E8"/>
                </a:solidFill>
                <a:latin typeface="Inter" pitchFamily="34" charset="0"/>
                <a:ea typeface="Inter" pitchFamily="34" charset="-122"/>
                <a:cs typeface="Inter" pitchFamily="34" charset="-120"/>
              </a:rPr>
              <a:t>Các nguồn thực tế trong ngành đã ghi nhận AI có thể hỗ trợ sinh test case và test script trong automotive, nhưng độ đúng phụ thuộc mạnh vào chất lượng prompt, ngữ cảnh kỹ thuật và cơ chế review của kỹ sư. Vì vậy mô hình phù hợp với IVI là “AI sinh nháp nhanh, team xác nhận chắc”.</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1131540"/>
            <a:ext cx="1272480"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Năng lực cần xây</a:t>
            </a:r>
            <a:endParaRPr lang="en-US" sz="960" dirty="0"/>
          </a:p>
        </p:txBody>
      </p:sp>
      <p:sp>
        <p:nvSpPr>
          <p:cNvPr id="3" name="Text 1"/>
          <p:cNvSpPr/>
          <p:nvPr/>
        </p:nvSpPr>
        <p:spPr>
          <a:xfrm>
            <a:off x="495300" y="959793"/>
            <a:ext cx="3962400" cy="2644973"/>
          </a:xfrm>
          <a:prstGeom prst="roundRect">
            <a:avLst>
              <a:gd name="adj" fmla="val 7605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686300" y="959793"/>
            <a:ext cx="3962400" cy="2644973"/>
          </a:xfrm>
          <a:prstGeom prst="roundRect">
            <a:avLst>
              <a:gd name="adj" fmla="val 7605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495300" y="3833366"/>
            <a:ext cx="3962400" cy="2441823"/>
          </a:xfrm>
          <a:prstGeom prst="roundRect">
            <a:avLst>
              <a:gd name="adj" fmla="val 82384"/>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686300" y="3833366"/>
            <a:ext cx="3962400" cy="2441823"/>
          </a:xfrm>
          <a:prstGeom prst="roundRect">
            <a:avLst>
              <a:gd name="adj" fmla="val 82384"/>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495300" y="-640407"/>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Muốn AI dùng được cho review và test, team cần 4 thứ</a:t>
            </a:r>
            <a:endParaRPr lang="en-US" sz="3600" dirty="0"/>
          </a:p>
        </p:txBody>
      </p:sp>
      <p:sp>
        <p:nvSpPr>
          <p:cNvPr id="8" name="Text 6"/>
          <p:cNvSpPr/>
          <p:nvPr/>
        </p:nvSpPr>
        <p:spPr>
          <a:xfrm>
            <a:off x="771525" y="1236018"/>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1. Review checklist đủ sâu</a:t>
            </a:r>
            <a:endParaRPr lang="en-US" sz="1500" dirty="0"/>
          </a:p>
        </p:txBody>
      </p:sp>
      <p:sp>
        <p:nvSpPr>
          <p:cNvPr id="9" name="Text 7"/>
          <p:cNvSpPr/>
          <p:nvPr/>
        </p:nvSpPr>
        <p:spPr>
          <a:xfrm>
            <a:off x="771525" y="1655118"/>
            <a:ext cx="3409950" cy="1386483"/>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Checklist theo module: app, framework, service, HAL, integration.</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Bug pattern điển hình: null, race, lifecycle, memory leak, timeout, permission, state sync.</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Rule nào máy kiểm được thì đưa cho AI; rule nào cần phán đoán thì giữ cho reviewer.</a:t>
            </a:r>
            <a:endParaRPr lang="en-US" sz="1104" dirty="0"/>
          </a:p>
        </p:txBody>
      </p:sp>
      <p:sp>
        <p:nvSpPr>
          <p:cNvPr id="10" name="Text 8"/>
          <p:cNvSpPr/>
          <p:nvPr/>
        </p:nvSpPr>
        <p:spPr>
          <a:xfrm>
            <a:off x="4962525" y="1236018"/>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2. Test asset chuẩn hóa</a:t>
            </a:r>
            <a:endParaRPr lang="en-US" sz="1500" dirty="0"/>
          </a:p>
        </p:txBody>
      </p:sp>
      <p:sp>
        <p:nvSpPr>
          <p:cNvPr id="11" name="Text 9"/>
          <p:cNvSpPr/>
          <p:nvPr/>
        </p:nvSpPr>
        <p:spPr>
          <a:xfrm>
            <a:off x="4962525" y="1655118"/>
            <a:ext cx="3409950" cy="1589633"/>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Template test case, expected result, mapping requirement-test-defect.</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Kho mock, sample input, log mẫu, adb command, reproduction note để AI có ngữ cảnh tốt.</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Definition of done cho unit, integration và regression.</a:t>
            </a:r>
            <a:endParaRPr lang="en-US" sz="1104" dirty="0"/>
          </a:p>
        </p:txBody>
      </p:sp>
      <p:sp>
        <p:nvSpPr>
          <p:cNvPr id="12" name="Text 10"/>
          <p:cNvSpPr/>
          <p:nvPr/>
        </p:nvSpPr>
        <p:spPr>
          <a:xfrm>
            <a:off x="771525" y="4109591"/>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3. Context nội bộ sạch</a:t>
            </a:r>
            <a:endParaRPr lang="en-US" sz="1500" dirty="0"/>
          </a:p>
        </p:txBody>
      </p:sp>
      <p:sp>
        <p:nvSpPr>
          <p:cNvPr id="13" name="Text 11"/>
          <p:cNvSpPr/>
          <p:nvPr/>
        </p:nvSpPr>
        <p:spPr>
          <a:xfrm>
            <a:off x="771525" y="4528691"/>
            <a:ext cx="3409950" cy="1386483"/>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Tài liệu thiết kế, guideline OEM, convention code và lesson learned phải tìm được nhanh.</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Ưu tiên RAG nội bộ hơn prompt tay rời rạc để tránh mỗi người hỏi một kiểu.</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Phân quyền dữ liệu rõ để không lộ source hoặc tài liệu nhạy cảm.</a:t>
            </a:r>
            <a:endParaRPr lang="en-US" sz="1104" dirty="0"/>
          </a:p>
        </p:txBody>
      </p:sp>
      <p:sp>
        <p:nvSpPr>
          <p:cNvPr id="14" name="Text 12"/>
          <p:cNvSpPr/>
          <p:nvPr/>
        </p:nvSpPr>
        <p:spPr>
          <a:xfrm>
            <a:off x="4962525" y="4109591"/>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4. Lead biết đo hiệu quả</a:t>
            </a:r>
            <a:endParaRPr lang="en-US" sz="1500" dirty="0"/>
          </a:p>
        </p:txBody>
      </p:sp>
      <p:sp>
        <p:nvSpPr>
          <p:cNvPr id="15" name="Text 13"/>
          <p:cNvSpPr/>
          <p:nvPr/>
        </p:nvSpPr>
        <p:spPr>
          <a:xfrm>
            <a:off x="4962525" y="4528691"/>
            <a:ext cx="3409950" cy="1386483"/>
          </a:xfrm>
          <a:prstGeom prst="rect">
            <a:avLst/>
          </a:prstGeom>
          <a:noFill/>
          <a:ln/>
        </p:spPr>
        <p:txBody>
          <a:bodyPr wrap="square" lIns="0" tIns="0" rIns="0" bIns="0" rtlCol="0" anchor="t"/>
          <a:lstStyle/>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Đo review turnaround time, defect escape, effort viết test, coverage gap và re-open bug.</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So sánh trước-sau trên cùng một team, không đo theo cảm nhận chung.</a:t>
            </a:r>
            <a:endParaRPr lang="en-US" sz="1104" dirty="0"/>
          </a:p>
          <a:p>
            <a:pPr marL="342900" indent="-342900">
              <a:lnSpc>
                <a:spcPts val="1601"/>
              </a:lnSpc>
              <a:buSzPct val="100000"/>
              <a:buChar char="•"/>
            </a:pPr>
            <a:r>
              <a:rPr lang="en-US" sz="1104" dirty="0">
                <a:solidFill>
                  <a:srgbClr val="C8D4E8"/>
                </a:solidFill>
                <a:latin typeface="Inter" pitchFamily="34" charset="0"/>
                <a:ea typeface="Inter" pitchFamily="34" charset="-122"/>
                <a:cs typeface="Inter" pitchFamily="34" charset="-120"/>
              </a:rPr>
              <a:t>Use case nào không cải thiện KPI thì dừng hoặc đổi cách làm.</a:t>
            </a:r>
            <a:endParaRPr lang="en-US" sz="110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3973860" y="1160413"/>
            <a:ext cx="1196280"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ctr" indent="0" marL="0">
              <a:buNone/>
            </a:pPr>
            <a:r>
              <a:rPr lang="en-US" sz="960" dirty="0">
                <a:solidFill>
                  <a:srgbClr val="C8D4E8"/>
                </a:solidFill>
                <a:latin typeface="Inter" pitchFamily="34" charset="0"/>
                <a:ea typeface="Inter" pitchFamily="34" charset="-122"/>
                <a:cs typeface="Inter" pitchFamily="34" charset="-120"/>
              </a:rPr>
              <a:t>Thiết kế tổ chức</a:t>
            </a:r>
            <a:endParaRPr lang="en-US" sz="960" dirty="0"/>
          </a:p>
        </p:txBody>
      </p:sp>
      <p:sp>
        <p:nvSpPr>
          <p:cNvPr id="3" name="Text 1"/>
          <p:cNvSpPr/>
          <p:nvPr/>
        </p:nvSpPr>
        <p:spPr>
          <a:xfrm>
            <a:off x="495300" y="1651546"/>
            <a:ext cx="8153400" cy="1645741"/>
          </a:xfrm>
          <a:prstGeom prst="rect">
            <a:avLst/>
          </a:prstGeom>
          <a:noFill/>
          <a:ln/>
        </p:spPr>
        <p:txBody>
          <a:bodyPr wrap="square" lIns="0" tIns="0" rIns="0" bIns="0" rtlCol="0" anchor="t"/>
          <a:lstStyle/>
          <a:p>
            <a:pPr algn="ctr" indent="0" marL="0">
              <a:lnSpc>
                <a:spcPts val="6480"/>
              </a:lnSpc>
              <a:buNone/>
            </a:pPr>
            <a:r>
              <a:rPr lang="en-US" sz="4320" b="1" dirty="0">
                <a:solidFill>
                  <a:srgbClr val="EEF4FF"/>
                </a:solidFill>
                <a:latin typeface="Instrument Serif" pitchFamily="34" charset="0"/>
                <a:ea typeface="Instrument Serif" pitchFamily="34" charset="-122"/>
                <a:cs typeface="Instrument Serif" pitchFamily="34" charset="-120"/>
              </a:rPr>
              <a:t>Từ pilot use case sang cách làm chuẩn của technical lead</a:t>
            </a:r>
            <a:endParaRPr lang="en-US" sz="4320" dirty="0"/>
          </a:p>
        </p:txBody>
      </p:sp>
      <p:sp>
        <p:nvSpPr>
          <p:cNvPr id="4" name="Text 2"/>
          <p:cNvSpPr/>
          <p:nvPr/>
        </p:nvSpPr>
        <p:spPr>
          <a:xfrm>
            <a:off x="495300" y="3449687"/>
            <a:ext cx="8153400" cy="533400"/>
          </a:xfrm>
          <a:prstGeom prst="rect">
            <a:avLst/>
          </a:prstGeom>
          <a:noFill/>
          <a:ln/>
        </p:spPr>
        <p:txBody>
          <a:bodyPr wrap="square" lIns="0" tIns="0" rIns="0" bIns="0" rtlCol="0" anchor="t"/>
          <a:lstStyle/>
          <a:p>
            <a:pPr algn="ctr" indent="0" marL="0">
              <a:lnSpc>
                <a:spcPts val="2100"/>
              </a:lnSpc>
              <a:buNone/>
            </a:pPr>
            <a:r>
              <a:rPr lang="en-US" sz="1500" dirty="0">
                <a:solidFill>
                  <a:srgbClr val="C8D4E8"/>
                </a:solidFill>
                <a:latin typeface="Inter" pitchFamily="34" charset="0"/>
                <a:ea typeface="Inter" pitchFamily="34" charset="-122"/>
                <a:cs typeface="Inter" pitchFamily="34" charset="-120"/>
              </a:rPr>
              <a:t>Nếu mỗi lead tự dùng AI theo cảm hứng thì kết quả sẽ lệch nhau giữa các team. Cần biến kinh nghiệm tốt ở review và test thành playbook chuẩn để squad nào cũng áp dụng được.</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391418"/>
            <a:ext cx="11867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Cơ cấu nhân sự</a:t>
            </a:r>
            <a:endParaRPr lang="en-US" sz="960" dirty="0"/>
          </a:p>
        </p:txBody>
      </p:sp>
      <p:sp>
        <p:nvSpPr>
          <p:cNvPr id="3" name="Text 1"/>
          <p:cNvSpPr/>
          <p:nvPr/>
        </p:nvSpPr>
        <p:spPr>
          <a:xfrm>
            <a:off x="495300" y="1052215"/>
            <a:ext cx="2590800" cy="2012752"/>
          </a:xfrm>
          <a:prstGeom prst="roundRect">
            <a:avLst>
              <a:gd name="adj" fmla="val 999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3276600" y="1052215"/>
            <a:ext cx="2590800" cy="2012752"/>
          </a:xfrm>
          <a:prstGeom prst="roundRect">
            <a:avLst>
              <a:gd name="adj" fmla="val 999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6057900" y="1052215"/>
            <a:ext cx="2590800" cy="2012752"/>
          </a:xfrm>
          <a:prstGeom prst="roundRect">
            <a:avLst>
              <a:gd name="adj" fmla="val 999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95300" y="3255466"/>
            <a:ext cx="2590800" cy="2279452"/>
          </a:xfrm>
          <a:prstGeom prst="roundRect">
            <a:avLst>
              <a:gd name="adj" fmla="val 8825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3276600" y="3255466"/>
            <a:ext cx="2590800" cy="2279452"/>
          </a:xfrm>
          <a:prstGeom prst="roundRect">
            <a:avLst>
              <a:gd name="adj" fmla="val 8825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6057900" y="3255466"/>
            <a:ext cx="2590800" cy="2279452"/>
          </a:xfrm>
          <a:prstGeom prst="roundRect">
            <a:avLst>
              <a:gd name="adj" fmla="val 8825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9" name="Text 7"/>
          <p:cNvSpPr/>
          <p:nvPr/>
        </p:nvSpPr>
        <p:spPr>
          <a:xfrm>
            <a:off x="495300" y="99715"/>
            <a:ext cx="8316468" cy="6858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Vai trò của technical lead và các đầu mối liên quan</a:t>
            </a:r>
            <a:endParaRPr lang="en-US" sz="3600" dirty="0"/>
          </a:p>
        </p:txBody>
      </p:sp>
      <p:sp>
        <p:nvSpPr>
          <p:cNvPr id="10" name="Text 8"/>
          <p:cNvSpPr/>
          <p:nvPr/>
        </p:nvSpPr>
        <p:spPr>
          <a:xfrm>
            <a:off x="733425" y="1290340"/>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1" name="Text 9"/>
          <p:cNvSpPr/>
          <p:nvPr/>
        </p:nvSpPr>
        <p:spPr>
          <a:xfrm>
            <a:off x="733425" y="1671340"/>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Tech Lead / Module Lead</a:t>
            </a:r>
            <a:endParaRPr lang="en-US" sz="1350" dirty="0"/>
          </a:p>
        </p:txBody>
      </p:sp>
      <p:sp>
        <p:nvSpPr>
          <p:cNvPr id="12" name="Text 10"/>
          <p:cNvSpPr/>
          <p:nvPr/>
        </p:nvSpPr>
        <p:spPr>
          <a:xfrm>
            <a:off x="733425" y="2014240"/>
            <a:ext cx="211455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Chịu trách nhiệm checklist review, risk map, gate merge và coaching kỹ sư trong module phụ trách.</a:t>
            </a:r>
            <a:endParaRPr lang="en-US" sz="1104" dirty="0"/>
          </a:p>
        </p:txBody>
      </p:sp>
      <p:sp>
        <p:nvSpPr>
          <p:cNvPr id="13" name="Text 11"/>
          <p:cNvSpPr/>
          <p:nvPr/>
        </p:nvSpPr>
        <p:spPr>
          <a:xfrm>
            <a:off x="3514725" y="1290340"/>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4" name="Text 12"/>
          <p:cNvSpPr/>
          <p:nvPr/>
        </p:nvSpPr>
        <p:spPr>
          <a:xfrm>
            <a:off x="3514725" y="1671340"/>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Tooling / AI Champion</a:t>
            </a:r>
            <a:endParaRPr lang="en-US" sz="1350" dirty="0"/>
          </a:p>
        </p:txBody>
      </p:sp>
      <p:sp>
        <p:nvSpPr>
          <p:cNvPr id="15" name="Text 13"/>
          <p:cNvSpPr/>
          <p:nvPr/>
        </p:nvSpPr>
        <p:spPr>
          <a:xfrm>
            <a:off x="3514725" y="2014240"/>
            <a:ext cx="211455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Đóng gói prompt pack, workflow review/test, tích hợp vào IDE, repo hoặc ticket flow để team dùng thuận hơn.</a:t>
            </a:r>
            <a:endParaRPr lang="en-US" sz="1104" dirty="0"/>
          </a:p>
        </p:txBody>
      </p:sp>
      <p:sp>
        <p:nvSpPr>
          <p:cNvPr id="16" name="Text 14"/>
          <p:cNvSpPr/>
          <p:nvPr/>
        </p:nvSpPr>
        <p:spPr>
          <a:xfrm>
            <a:off x="6296025" y="1290340"/>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17" name="Text 15"/>
          <p:cNvSpPr/>
          <p:nvPr/>
        </p:nvSpPr>
        <p:spPr>
          <a:xfrm>
            <a:off x="6296025" y="1671340"/>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QA / Test Lead</a:t>
            </a:r>
            <a:endParaRPr lang="en-US" sz="1350" dirty="0"/>
          </a:p>
        </p:txBody>
      </p:sp>
      <p:sp>
        <p:nvSpPr>
          <p:cNvPr id="18" name="Text 16"/>
          <p:cNvSpPr/>
          <p:nvPr/>
        </p:nvSpPr>
        <p:spPr>
          <a:xfrm>
            <a:off x="6296025" y="2014240"/>
            <a:ext cx="211455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Giữ chuẩn traceability, test evidence, regression policy và đánh giá output AI trước khi đưa vào release flow.</a:t>
            </a:r>
            <a:endParaRPr lang="en-US" sz="1104" dirty="0"/>
          </a:p>
        </p:txBody>
      </p:sp>
      <p:sp>
        <p:nvSpPr>
          <p:cNvPr id="19" name="Text 17"/>
          <p:cNvSpPr/>
          <p:nvPr/>
        </p:nvSpPr>
        <p:spPr>
          <a:xfrm>
            <a:off x="733425" y="3493591"/>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20" name="Text 18"/>
          <p:cNvSpPr/>
          <p:nvPr/>
        </p:nvSpPr>
        <p:spPr>
          <a:xfrm>
            <a:off x="733425" y="3874591"/>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Knowledge Owner</a:t>
            </a:r>
            <a:endParaRPr lang="en-US" sz="1350" dirty="0"/>
          </a:p>
        </p:txBody>
      </p:sp>
      <p:sp>
        <p:nvSpPr>
          <p:cNvPr id="21" name="Text 19"/>
          <p:cNvSpPr/>
          <p:nvPr/>
        </p:nvSpPr>
        <p:spPr>
          <a:xfrm>
            <a:off x="733425" y="4217491"/>
            <a:ext cx="211455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Quản kho guideline, lỗi điển hình, review note, test template và lesson learned để AI có dữ liệu tốt.</a:t>
            </a:r>
            <a:endParaRPr lang="en-US" sz="1104" dirty="0"/>
          </a:p>
        </p:txBody>
      </p:sp>
      <p:sp>
        <p:nvSpPr>
          <p:cNvPr id="22" name="Text 20"/>
          <p:cNvSpPr/>
          <p:nvPr/>
        </p:nvSpPr>
        <p:spPr>
          <a:xfrm>
            <a:off x="3514725" y="3493591"/>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23" name="Text 21"/>
          <p:cNvSpPr/>
          <p:nvPr/>
        </p:nvSpPr>
        <p:spPr>
          <a:xfrm>
            <a:off x="3514725" y="3874591"/>
            <a:ext cx="2114550" cy="5334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CI/Test Automation Owner</a:t>
            </a:r>
            <a:endParaRPr lang="en-US" sz="1350" dirty="0"/>
          </a:p>
        </p:txBody>
      </p:sp>
      <p:sp>
        <p:nvSpPr>
          <p:cNvPr id="24" name="Text 22"/>
          <p:cNvSpPr/>
          <p:nvPr/>
        </p:nvSpPr>
        <p:spPr>
          <a:xfrm>
            <a:off x="3514725" y="4484191"/>
            <a:ext cx="211455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Đưa AI vào unit test, regression suggestion, flaky test triage và phân tích coverage gap trong pipeline.</a:t>
            </a:r>
            <a:endParaRPr lang="en-US" sz="1104" dirty="0"/>
          </a:p>
        </p:txBody>
      </p:sp>
      <p:sp>
        <p:nvSpPr>
          <p:cNvPr id="25" name="Text 23"/>
          <p:cNvSpPr/>
          <p:nvPr/>
        </p:nvSpPr>
        <p:spPr>
          <a:xfrm>
            <a:off x="6296025" y="3493591"/>
            <a:ext cx="2156841" cy="304800"/>
          </a:xfrm>
          <a:prstGeom prst="rect">
            <a:avLst/>
          </a:prstGeom>
          <a:noFill/>
          <a:ln/>
        </p:spPr>
        <p:txBody>
          <a:bodyPr wrap="square" lIns="0" tIns="0" rIns="0" bIns="0" rtlCol="0" anchor="t"/>
          <a:lstStyle/>
          <a:p>
            <a:pPr indent="0" marL="0">
              <a:lnSpc>
                <a:spcPts val="2400"/>
              </a:lnSpc>
              <a:buNone/>
            </a:pPr>
            <a:r>
              <a:rPr lang="en-US" sz="1800" dirty="0">
                <a:solidFill>
                  <a:srgbClr val="EEF4FF"/>
                </a:solidFill>
                <a:latin typeface="Inter" pitchFamily="34" charset="0"/>
                <a:ea typeface="Inter" pitchFamily="34" charset="-122"/>
                <a:cs typeface="Inter" pitchFamily="34" charset="-120"/>
              </a:rPr>
              <a:t>👨‍🏫</a:t>
            </a:r>
            <a:endParaRPr lang="en-US" sz="1800" dirty="0"/>
          </a:p>
        </p:txBody>
      </p:sp>
      <p:sp>
        <p:nvSpPr>
          <p:cNvPr id="26" name="Text 24"/>
          <p:cNvSpPr/>
          <p:nvPr/>
        </p:nvSpPr>
        <p:spPr>
          <a:xfrm>
            <a:off x="6296025" y="3874591"/>
            <a:ext cx="2114550" cy="5334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Project Manager / Delivery Lead</a:t>
            </a:r>
            <a:endParaRPr lang="en-US" sz="1350" dirty="0"/>
          </a:p>
        </p:txBody>
      </p:sp>
      <p:sp>
        <p:nvSpPr>
          <p:cNvPr id="27" name="Text 25"/>
          <p:cNvSpPr/>
          <p:nvPr/>
        </p:nvSpPr>
        <p:spPr>
          <a:xfrm>
            <a:off x="6296025" y="4484191"/>
            <a:ext cx="211455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Chọn pilot phù hợp, cân effort, theo dõi KPI và đảm bảo use case AI không làm vỡ tiến độ dự án.</a:t>
            </a:r>
            <a:endParaRPr lang="en-US" sz="110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578793"/>
            <a:ext cx="13391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Roadmap 12 tháng</a:t>
            </a:r>
            <a:endParaRPr lang="en-US" sz="960" dirty="0"/>
          </a:p>
        </p:txBody>
      </p:sp>
      <p:sp>
        <p:nvSpPr>
          <p:cNvPr id="3" name="Text 1"/>
          <p:cNvSpPr/>
          <p:nvPr/>
        </p:nvSpPr>
        <p:spPr>
          <a:xfrm>
            <a:off x="876300" y="864840"/>
            <a:ext cx="7772400" cy="1492151"/>
          </a:xfrm>
          <a:prstGeom prst="roundRect">
            <a:avLst>
              <a:gd name="adj" fmla="val 13481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561975" y="1198215"/>
            <a:ext cx="152400" cy="152400"/>
          </a:xfrm>
          <a:prstGeom prst="roundRect">
            <a:avLst>
              <a:gd name="adj" fmla="val 3000000"/>
            </a:avLst>
          </a:prstGeom>
          <a:solidFill>
            <a:srgbClr val="4F8CFF"/>
          </a:solidFill>
          <a:ln/>
          <a:effectLst>
            <a:outerShdw sx="100000" sy="100000" kx="0" ky="0" algn="bl" rotWithShape="0" blurRad="190500" dist="50800" dir="16200000">
              <a:srgbClr val="4F8CFF">
                <a:alpha val="55000"/>
              </a:srgbClr>
            </a:outerShdw>
          </a:effectLst>
        </p:spPr>
        <p:txBody>
          <a:bodyPr wrap="none" lIns="0" tIns="0" rIns="0" bIns="0" rtlCol="0" anchor="ctr">
            <a:normAutofit/>
          </a:bodyPr>
          <a:lstStyle/>
          <a:p>
            <a:pPr indent="0" marL="0">
              <a:buNone/>
            </a:pPr>
            <a:endParaRPr lang="en-US" dirty="0"/>
          </a:p>
        </p:txBody>
      </p:sp>
      <p:sp>
        <p:nvSpPr>
          <p:cNvPr id="5" name="Text 3"/>
          <p:cNvSpPr/>
          <p:nvPr/>
        </p:nvSpPr>
        <p:spPr>
          <a:xfrm>
            <a:off x="876300" y="2547491"/>
            <a:ext cx="7772400" cy="1492151"/>
          </a:xfrm>
          <a:prstGeom prst="roundRect">
            <a:avLst>
              <a:gd name="adj" fmla="val 13481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561975" y="2880866"/>
            <a:ext cx="152400" cy="152400"/>
          </a:xfrm>
          <a:prstGeom prst="roundRect">
            <a:avLst>
              <a:gd name="adj" fmla="val 3000000"/>
            </a:avLst>
          </a:prstGeom>
          <a:solidFill>
            <a:srgbClr val="4F8CFF"/>
          </a:solidFill>
          <a:ln/>
          <a:effectLst>
            <a:outerShdw sx="100000" sy="100000" kx="0" ky="0" algn="bl" rotWithShape="0" blurRad="190500" dist="50800" dir="16200000">
              <a:srgbClr val="4F8CFF">
                <a:alpha val="55000"/>
              </a:srgbClr>
            </a:outerShdw>
          </a:effectLst>
        </p:spPr>
        <p:txBody>
          <a:bodyPr wrap="none" lIns="0" tIns="0" rIns="0" bIns="0" rtlCol="0" anchor="ctr">
            <a:normAutofit/>
          </a:bodyPr>
          <a:lstStyle/>
          <a:p>
            <a:pPr indent="0" marL="0">
              <a:buNone/>
            </a:pPr>
            <a:endParaRPr lang="en-US" dirty="0"/>
          </a:p>
        </p:txBody>
      </p:sp>
      <p:sp>
        <p:nvSpPr>
          <p:cNvPr id="7" name="Text 5"/>
          <p:cNvSpPr/>
          <p:nvPr/>
        </p:nvSpPr>
        <p:spPr>
          <a:xfrm>
            <a:off x="876300" y="4230142"/>
            <a:ext cx="7772400" cy="1492151"/>
          </a:xfrm>
          <a:prstGeom prst="roundRect">
            <a:avLst>
              <a:gd name="adj" fmla="val 13481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561975" y="4563517"/>
            <a:ext cx="152400" cy="152400"/>
          </a:xfrm>
          <a:prstGeom prst="roundRect">
            <a:avLst>
              <a:gd name="adj" fmla="val 3000000"/>
            </a:avLst>
          </a:prstGeom>
          <a:solidFill>
            <a:srgbClr val="4F8CFF"/>
          </a:solidFill>
          <a:ln/>
          <a:effectLst>
            <a:outerShdw sx="100000" sy="100000" kx="0" ky="0" algn="bl" rotWithShape="0" blurRad="190500" dist="50800" dir="16200000">
              <a:srgbClr val="4F8CFF">
                <a:alpha val="55000"/>
              </a:srgbClr>
            </a:outerShdw>
          </a:effectLst>
        </p:spPr>
        <p:txBody>
          <a:bodyPr wrap="none" lIns="0" tIns="0" rIns="0" bIns="0" rtlCol="0" anchor="ctr">
            <a:normAutofit/>
          </a:bodyPr>
          <a:lstStyle/>
          <a:p>
            <a:pPr indent="0" marL="0">
              <a:buNone/>
            </a:pPr>
            <a:endParaRPr lang="en-US" dirty="0"/>
          </a:p>
        </p:txBody>
      </p:sp>
      <p:sp>
        <p:nvSpPr>
          <p:cNvPr id="9" name="Text 7"/>
          <p:cNvSpPr/>
          <p:nvPr/>
        </p:nvSpPr>
        <p:spPr>
          <a:xfrm>
            <a:off x="495300" y="-87660"/>
            <a:ext cx="8316468" cy="6858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Roadmap 12 tháng cho AI ở code review và test</a:t>
            </a:r>
            <a:endParaRPr lang="en-US" sz="3600" dirty="0"/>
          </a:p>
        </p:txBody>
      </p:sp>
      <p:sp>
        <p:nvSpPr>
          <p:cNvPr id="10" name="Text 8"/>
          <p:cNvSpPr/>
          <p:nvPr/>
        </p:nvSpPr>
        <p:spPr>
          <a:xfrm>
            <a:off x="1114425" y="1102965"/>
            <a:ext cx="7442073" cy="190500"/>
          </a:xfrm>
          <a:prstGeom prst="rect">
            <a:avLst/>
          </a:prstGeom>
          <a:noFill/>
          <a:ln/>
        </p:spPr>
        <p:txBody>
          <a:bodyPr wrap="square" lIns="0" tIns="0" rIns="0" bIns="0" rtlCol="0" anchor="t"/>
          <a:lstStyle/>
          <a:p>
            <a:pPr indent="0" marL="0">
              <a:lnSpc>
                <a:spcPts val="1500"/>
              </a:lnSpc>
              <a:buNone/>
            </a:pPr>
            <a:r>
              <a:rPr lang="en-US" sz="1050" dirty="0">
                <a:solidFill>
                  <a:srgbClr val="91A4C6"/>
                </a:solidFill>
                <a:latin typeface="Inter" pitchFamily="34" charset="0"/>
                <a:ea typeface="Inter" pitchFamily="34" charset="-122"/>
                <a:cs typeface="Inter" pitchFamily="34" charset="-120"/>
              </a:rPr>
              <a:t>0–3 tháng</a:t>
            </a:r>
            <a:endParaRPr lang="en-US" sz="1050" dirty="0"/>
          </a:p>
        </p:txBody>
      </p:sp>
      <p:sp>
        <p:nvSpPr>
          <p:cNvPr id="11" name="Text 9"/>
          <p:cNvSpPr/>
          <p:nvPr/>
        </p:nvSpPr>
        <p:spPr>
          <a:xfrm>
            <a:off x="1114425" y="1369665"/>
            <a:ext cx="7442073"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Làm chuẩn nền móng</a:t>
            </a:r>
            <a:endParaRPr lang="en-US" sz="1500" dirty="0"/>
          </a:p>
        </p:txBody>
      </p:sp>
      <p:sp>
        <p:nvSpPr>
          <p:cNvPr id="12" name="Text 10"/>
          <p:cNvSpPr/>
          <p:nvPr/>
        </p:nvSpPr>
        <p:spPr>
          <a:xfrm>
            <a:off x="1114425" y="1712565"/>
            <a:ext cx="7296150" cy="40630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Chốt 10–15 use case AI có giá trị thật cho IVI; thống nhất rule dữ liệu; chuẩn hóa template requirement, design note, code review, test case và defect triage để team nào cũng dùng được.</a:t>
            </a:r>
            <a:endParaRPr lang="en-US" sz="1104" dirty="0"/>
          </a:p>
        </p:txBody>
      </p:sp>
      <p:sp>
        <p:nvSpPr>
          <p:cNvPr id="13" name="Text 11"/>
          <p:cNvSpPr/>
          <p:nvPr/>
        </p:nvSpPr>
        <p:spPr>
          <a:xfrm>
            <a:off x="1114425" y="2785616"/>
            <a:ext cx="7442073" cy="190500"/>
          </a:xfrm>
          <a:prstGeom prst="rect">
            <a:avLst/>
          </a:prstGeom>
          <a:noFill/>
          <a:ln/>
        </p:spPr>
        <p:txBody>
          <a:bodyPr wrap="square" lIns="0" tIns="0" rIns="0" bIns="0" rtlCol="0" anchor="t"/>
          <a:lstStyle/>
          <a:p>
            <a:pPr indent="0" marL="0">
              <a:lnSpc>
                <a:spcPts val="1500"/>
              </a:lnSpc>
              <a:buNone/>
            </a:pPr>
            <a:r>
              <a:rPr lang="en-US" sz="1050" dirty="0">
                <a:solidFill>
                  <a:srgbClr val="91A4C6"/>
                </a:solidFill>
                <a:latin typeface="Inter" pitchFamily="34" charset="0"/>
                <a:ea typeface="Inter" pitchFamily="34" charset="-122"/>
                <a:cs typeface="Inter" pitchFamily="34" charset="-120"/>
              </a:rPr>
              <a:t>3–6 tháng</a:t>
            </a:r>
            <a:endParaRPr lang="en-US" sz="1050" dirty="0"/>
          </a:p>
        </p:txBody>
      </p:sp>
      <p:sp>
        <p:nvSpPr>
          <p:cNvPr id="14" name="Text 12"/>
          <p:cNvSpPr/>
          <p:nvPr/>
        </p:nvSpPr>
        <p:spPr>
          <a:xfrm>
            <a:off x="1114425" y="3052316"/>
            <a:ext cx="7442073"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Pilot theo team/squad</a:t>
            </a:r>
            <a:endParaRPr lang="en-US" sz="1500" dirty="0"/>
          </a:p>
        </p:txBody>
      </p:sp>
      <p:sp>
        <p:nvSpPr>
          <p:cNvPr id="15" name="Text 13"/>
          <p:cNvSpPr/>
          <p:nvPr/>
        </p:nvSpPr>
        <p:spPr>
          <a:xfrm>
            <a:off x="1114425" y="3395216"/>
            <a:ext cx="7296150" cy="40630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Chọn 2–3 team pilot đại diện cho app/HMI, platform/integration và validation; đo lead time, defect leakage, effort documentation và tốc độ onboard để có số liệu nói chuyện với lãnh đạo.</a:t>
            </a:r>
            <a:endParaRPr lang="en-US" sz="1104" dirty="0"/>
          </a:p>
        </p:txBody>
      </p:sp>
      <p:sp>
        <p:nvSpPr>
          <p:cNvPr id="16" name="Text 14"/>
          <p:cNvSpPr/>
          <p:nvPr/>
        </p:nvSpPr>
        <p:spPr>
          <a:xfrm>
            <a:off x="1114425" y="4468267"/>
            <a:ext cx="7442073" cy="190500"/>
          </a:xfrm>
          <a:prstGeom prst="rect">
            <a:avLst/>
          </a:prstGeom>
          <a:noFill/>
          <a:ln/>
        </p:spPr>
        <p:txBody>
          <a:bodyPr wrap="square" lIns="0" tIns="0" rIns="0" bIns="0" rtlCol="0" anchor="t"/>
          <a:lstStyle/>
          <a:p>
            <a:pPr indent="0" marL="0">
              <a:lnSpc>
                <a:spcPts val="1500"/>
              </a:lnSpc>
              <a:buNone/>
            </a:pPr>
            <a:r>
              <a:rPr lang="en-US" sz="1050" dirty="0">
                <a:solidFill>
                  <a:srgbClr val="91A4C6"/>
                </a:solidFill>
                <a:latin typeface="Inter" pitchFamily="34" charset="0"/>
                <a:ea typeface="Inter" pitchFamily="34" charset="-122"/>
                <a:cs typeface="Inter" pitchFamily="34" charset="-120"/>
              </a:rPr>
              <a:t>6–12 tháng</a:t>
            </a:r>
            <a:endParaRPr lang="en-US" sz="1050" dirty="0"/>
          </a:p>
        </p:txBody>
      </p:sp>
      <p:sp>
        <p:nvSpPr>
          <p:cNvPr id="17" name="Text 15"/>
          <p:cNvSpPr/>
          <p:nvPr/>
        </p:nvSpPr>
        <p:spPr>
          <a:xfrm>
            <a:off x="1114425" y="4734967"/>
            <a:ext cx="7442073"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Chuẩn hóa và nhân rộng toàn đơn vị</a:t>
            </a:r>
            <a:endParaRPr lang="en-US" sz="1500" dirty="0"/>
          </a:p>
        </p:txBody>
      </p:sp>
      <p:sp>
        <p:nvSpPr>
          <p:cNvPr id="18" name="Text 16"/>
          <p:cNvSpPr/>
          <p:nvPr/>
        </p:nvSpPr>
        <p:spPr>
          <a:xfrm>
            <a:off x="1114425" y="5077867"/>
            <a:ext cx="7296150" cy="40630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Workflow nào chứng minh hiệu quả thì đưa vào cách làm chuẩn của đơn vị; đồng thời xây knowledge base nội bộ, hình thành nhóm nòng cốt AI/SDV và gắn KPI năng lực với lead, PM, architect.</a:t>
            </a:r>
            <a:endParaRPr lang="en-US" sz="110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213568"/>
            <a:ext cx="151060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Chương trình đào tạo</a:t>
            </a:r>
            <a:endParaRPr lang="en-US" sz="960" dirty="0"/>
          </a:p>
        </p:txBody>
      </p:sp>
      <p:sp>
        <p:nvSpPr>
          <p:cNvPr id="3" name="Text 1"/>
          <p:cNvSpPr/>
          <p:nvPr/>
        </p:nvSpPr>
        <p:spPr>
          <a:xfrm>
            <a:off x="495300" y="1915864"/>
            <a:ext cx="2565350" cy="2482602"/>
          </a:xfrm>
          <a:prstGeom prst="roundRect">
            <a:avLst>
              <a:gd name="adj" fmla="val 8103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3289250" y="1915864"/>
            <a:ext cx="2565350" cy="2482602"/>
          </a:xfrm>
          <a:prstGeom prst="roundRect">
            <a:avLst>
              <a:gd name="adj" fmla="val 8103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6083201" y="1915864"/>
            <a:ext cx="2565499" cy="2482602"/>
          </a:xfrm>
          <a:prstGeom prst="roundRect">
            <a:avLst>
              <a:gd name="adj" fmla="val 8103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95300" y="4627066"/>
            <a:ext cx="1924050" cy="730151"/>
          </a:xfrm>
          <a:prstGeom prst="roundRect">
            <a:avLst>
              <a:gd name="adj" fmla="val 275516"/>
            </a:avLst>
          </a:prstGeom>
          <a:solidFill>
            <a:srgbClr val="1A1A2E">
              <a:alpha val="80000"/>
            </a:srgbClr>
          </a:solidFill>
          <a:ln w="9525">
            <a:solidFill>
              <a:srgbClr val="FFFFFF"/>
            </a:solidFill>
          </a:ln>
        </p:spPr>
        <p:txBody>
          <a:bodyPr wrap="square" lIns="152400" tIns="152400" rIns="152400" bIns="152400" rtlCol="0" anchor="t">
            <a:normAutofit/>
          </a:bodyPr>
          <a:lstStyle/>
          <a:p>
            <a:pPr algn="ctr" indent="0" marL="0">
              <a:buNone/>
            </a:pPr>
            <a:r>
              <a:rPr lang="en-US" sz="1104" dirty="0">
                <a:solidFill>
                  <a:srgbClr val="EEF4FF"/>
                </a:solidFill>
                <a:latin typeface="Inter" pitchFamily="34" charset="0"/>
                <a:ea typeface="Inter" pitchFamily="34" charset="-122"/>
                <a:cs typeface="Inter" pitchFamily="34" charset="-120"/>
              </a:rPr>
              <a:t>Track nền cho fresher/junior</a:t>
            </a:r>
            <a:endParaRPr lang="en-US" sz="1104" dirty="0"/>
          </a:p>
        </p:txBody>
      </p:sp>
      <p:sp>
        <p:nvSpPr>
          <p:cNvPr id="7" name="Text 5"/>
          <p:cNvSpPr/>
          <p:nvPr/>
        </p:nvSpPr>
        <p:spPr>
          <a:xfrm>
            <a:off x="2571750" y="4627066"/>
            <a:ext cx="1924050" cy="730151"/>
          </a:xfrm>
          <a:prstGeom prst="roundRect">
            <a:avLst>
              <a:gd name="adj" fmla="val 275516"/>
            </a:avLst>
          </a:prstGeom>
          <a:solidFill>
            <a:srgbClr val="1A1A2E">
              <a:alpha val="80000"/>
            </a:srgbClr>
          </a:solidFill>
          <a:ln w="9525">
            <a:solidFill>
              <a:srgbClr val="FFFFFF"/>
            </a:solidFill>
          </a:ln>
        </p:spPr>
        <p:txBody>
          <a:bodyPr wrap="square" lIns="152400" tIns="152400" rIns="152400" bIns="152400" rtlCol="0" anchor="t">
            <a:normAutofit/>
          </a:bodyPr>
          <a:lstStyle/>
          <a:p>
            <a:pPr algn="ctr" indent="0" marL="0">
              <a:buNone/>
            </a:pPr>
            <a:r>
              <a:rPr lang="en-US" sz="1104" dirty="0">
                <a:solidFill>
                  <a:srgbClr val="EEF4FF"/>
                </a:solidFill>
                <a:latin typeface="Inter" pitchFamily="34" charset="0"/>
                <a:ea typeface="Inter" pitchFamily="34" charset="-122"/>
                <a:cs typeface="Inter" pitchFamily="34" charset="-120"/>
              </a:rPr>
              <a:t>Track nâng chuẩn cho mid-level</a:t>
            </a:r>
            <a:endParaRPr lang="en-US" sz="1104" dirty="0"/>
          </a:p>
        </p:txBody>
      </p:sp>
      <p:sp>
        <p:nvSpPr>
          <p:cNvPr id="8" name="Text 6"/>
          <p:cNvSpPr/>
          <p:nvPr/>
        </p:nvSpPr>
        <p:spPr>
          <a:xfrm>
            <a:off x="4648200" y="4627066"/>
            <a:ext cx="1924050" cy="730151"/>
          </a:xfrm>
          <a:prstGeom prst="roundRect">
            <a:avLst>
              <a:gd name="adj" fmla="val 275516"/>
            </a:avLst>
          </a:prstGeom>
          <a:solidFill>
            <a:srgbClr val="1A1A2E">
              <a:alpha val="80000"/>
            </a:srgbClr>
          </a:solidFill>
          <a:ln w="9525">
            <a:solidFill>
              <a:srgbClr val="FFFFFF"/>
            </a:solidFill>
          </a:ln>
        </p:spPr>
        <p:txBody>
          <a:bodyPr wrap="square" lIns="152400" tIns="152400" rIns="152400" bIns="152400" rtlCol="0" anchor="t">
            <a:normAutofit/>
          </a:bodyPr>
          <a:lstStyle/>
          <a:p>
            <a:pPr algn="ctr" indent="0" marL="0">
              <a:buNone/>
            </a:pPr>
            <a:r>
              <a:rPr lang="en-US" sz="1104" dirty="0">
                <a:solidFill>
                  <a:srgbClr val="EEF4FF"/>
                </a:solidFill>
                <a:latin typeface="Inter" pitchFamily="34" charset="0"/>
                <a:ea typeface="Inter" pitchFamily="34" charset="-122"/>
                <a:cs typeface="Inter" pitchFamily="34" charset="-120"/>
              </a:rPr>
              <a:t>Track dẫn dắt cho senior/architect</a:t>
            </a:r>
            <a:endParaRPr lang="en-US" sz="1104" dirty="0"/>
          </a:p>
        </p:txBody>
      </p:sp>
      <p:sp>
        <p:nvSpPr>
          <p:cNvPr id="9" name="Text 7"/>
          <p:cNvSpPr/>
          <p:nvPr/>
        </p:nvSpPr>
        <p:spPr>
          <a:xfrm>
            <a:off x="6724650" y="4627066"/>
            <a:ext cx="1924050" cy="730151"/>
          </a:xfrm>
          <a:prstGeom prst="roundRect">
            <a:avLst>
              <a:gd name="adj" fmla="val 275516"/>
            </a:avLst>
          </a:prstGeom>
          <a:solidFill>
            <a:srgbClr val="1A1A2E">
              <a:alpha val="80000"/>
            </a:srgbClr>
          </a:solidFill>
          <a:ln w="9525">
            <a:solidFill>
              <a:srgbClr val="FFFFFF"/>
            </a:solidFill>
          </a:ln>
        </p:spPr>
        <p:txBody>
          <a:bodyPr wrap="square" lIns="152400" tIns="152400" rIns="152400" bIns="152400" rtlCol="0" anchor="t">
            <a:normAutofit/>
          </a:bodyPr>
          <a:lstStyle/>
          <a:p>
            <a:pPr algn="ctr" indent="0" marL="0">
              <a:buNone/>
            </a:pPr>
            <a:r>
              <a:rPr lang="en-US" sz="1104" dirty="0">
                <a:solidFill>
                  <a:srgbClr val="EEF4FF"/>
                </a:solidFill>
                <a:latin typeface="Inter" pitchFamily="34" charset="0"/>
                <a:ea typeface="Inter" pitchFamily="34" charset="-122"/>
                <a:cs typeface="Inter" pitchFamily="34" charset="-120"/>
              </a:rPr>
              <a:t>Track quản trị cho lead/PM</a:t>
            </a:r>
            <a:endParaRPr lang="en-US" sz="1104" dirty="0"/>
          </a:p>
        </p:txBody>
      </p:sp>
      <p:sp>
        <p:nvSpPr>
          <p:cNvPr id="10" name="Text 8"/>
          <p:cNvSpPr/>
          <p:nvPr/>
        </p:nvSpPr>
        <p:spPr>
          <a:xfrm>
            <a:off x="495300" y="277564"/>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Cách enable technical lead và kỹ sư dùng AI đúng việc</a:t>
            </a:r>
            <a:endParaRPr lang="en-US" sz="3600" dirty="0"/>
          </a:p>
        </p:txBody>
      </p:sp>
      <p:sp>
        <p:nvSpPr>
          <p:cNvPr id="11" name="Text 9"/>
          <p:cNvSpPr/>
          <p:nvPr/>
        </p:nvSpPr>
        <p:spPr>
          <a:xfrm>
            <a:off x="751396" y="2192089"/>
            <a:ext cx="2053158" cy="457200"/>
          </a:xfrm>
          <a:prstGeom prst="rect">
            <a:avLst/>
          </a:prstGeom>
          <a:noFill/>
          <a:ln/>
        </p:spPr>
        <p:txBody>
          <a:bodyPr wrap="square" lIns="0" tIns="0" rIns="0" bIns="0" rtlCol="0" anchor="t"/>
          <a:lstStyle/>
          <a:p>
            <a:pPr algn="ctr" indent="0" marL="0">
              <a:lnSpc>
                <a:spcPts val="3600"/>
              </a:lnSpc>
              <a:buNone/>
            </a:pPr>
            <a:r>
              <a:rPr lang="en-US" sz="3600" b="1" dirty="0">
                <a:solidFill>
                  <a:srgbClr val="4F8CFF"/>
                </a:solidFill>
                <a:latin typeface="Inter" pitchFamily="34" charset="0"/>
                <a:ea typeface="Inter" pitchFamily="34" charset="-122"/>
                <a:cs typeface="Inter" pitchFamily="34" charset="-120"/>
              </a:rPr>
              <a:t>70%</a:t>
            </a:r>
            <a:endParaRPr lang="en-US" sz="3600" dirty="0"/>
          </a:p>
        </p:txBody>
      </p:sp>
      <p:sp>
        <p:nvSpPr>
          <p:cNvPr id="12" name="Text 10"/>
          <p:cNvSpPr/>
          <p:nvPr/>
        </p:nvSpPr>
        <p:spPr>
          <a:xfrm>
            <a:off x="751396" y="2725489"/>
            <a:ext cx="2053158" cy="2667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On-the-job</a:t>
            </a:r>
            <a:endParaRPr lang="en-US" sz="1350" dirty="0"/>
          </a:p>
        </p:txBody>
      </p:sp>
      <p:sp>
        <p:nvSpPr>
          <p:cNvPr id="13" name="Text 11"/>
          <p:cNvSpPr/>
          <p:nvPr/>
        </p:nvSpPr>
        <p:spPr>
          <a:xfrm>
            <a:off x="771525" y="3106489"/>
            <a:ext cx="2012900" cy="101575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Học trên ticket và bug thật: review patch với AI, sinh test draft, triage log, so sánh kết quả trước-sau ngay trên sprint.</a:t>
            </a:r>
            <a:endParaRPr lang="en-US" sz="1104" dirty="0"/>
          </a:p>
        </p:txBody>
      </p:sp>
      <p:sp>
        <p:nvSpPr>
          <p:cNvPr id="14" name="Text 12"/>
          <p:cNvSpPr/>
          <p:nvPr/>
        </p:nvSpPr>
        <p:spPr>
          <a:xfrm>
            <a:off x="3545346" y="2192089"/>
            <a:ext cx="2053158" cy="457200"/>
          </a:xfrm>
          <a:prstGeom prst="rect">
            <a:avLst/>
          </a:prstGeom>
          <a:noFill/>
          <a:ln/>
        </p:spPr>
        <p:txBody>
          <a:bodyPr wrap="square" lIns="0" tIns="0" rIns="0" bIns="0" rtlCol="0" anchor="t"/>
          <a:lstStyle/>
          <a:p>
            <a:pPr algn="ctr" indent="0" marL="0">
              <a:lnSpc>
                <a:spcPts val="3600"/>
              </a:lnSpc>
              <a:buNone/>
            </a:pPr>
            <a:r>
              <a:rPr lang="en-US" sz="3600" b="1" dirty="0">
                <a:solidFill>
                  <a:srgbClr val="00D2B8"/>
                </a:solidFill>
                <a:latin typeface="Inter" pitchFamily="34" charset="0"/>
                <a:ea typeface="Inter" pitchFamily="34" charset="-122"/>
                <a:cs typeface="Inter" pitchFamily="34" charset="-120"/>
              </a:rPr>
              <a:t>20%</a:t>
            </a:r>
            <a:endParaRPr lang="en-US" sz="3600" dirty="0"/>
          </a:p>
        </p:txBody>
      </p:sp>
      <p:sp>
        <p:nvSpPr>
          <p:cNvPr id="15" name="Text 13"/>
          <p:cNvSpPr/>
          <p:nvPr/>
        </p:nvSpPr>
        <p:spPr>
          <a:xfrm>
            <a:off x="3545346" y="2725489"/>
            <a:ext cx="2053158" cy="2667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Coaching</a:t>
            </a:r>
            <a:endParaRPr lang="en-US" sz="1350" dirty="0"/>
          </a:p>
        </p:txBody>
      </p:sp>
      <p:sp>
        <p:nvSpPr>
          <p:cNvPr id="16" name="Text 14"/>
          <p:cNvSpPr/>
          <p:nvPr/>
        </p:nvSpPr>
        <p:spPr>
          <a:xfrm>
            <a:off x="3565475" y="3106489"/>
            <a:ext cx="2012900" cy="81260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Lead, senior và QA lead pair review trực tiếp; gom prompt tốt, case fail, false positive để cả team học nhanh hơn.</a:t>
            </a:r>
            <a:endParaRPr lang="en-US" sz="1104" dirty="0"/>
          </a:p>
        </p:txBody>
      </p:sp>
      <p:sp>
        <p:nvSpPr>
          <p:cNvPr id="17" name="Text 15"/>
          <p:cNvSpPr/>
          <p:nvPr/>
        </p:nvSpPr>
        <p:spPr>
          <a:xfrm>
            <a:off x="6339295" y="2192089"/>
            <a:ext cx="2053310" cy="457200"/>
          </a:xfrm>
          <a:prstGeom prst="rect">
            <a:avLst/>
          </a:prstGeom>
          <a:noFill/>
          <a:ln/>
        </p:spPr>
        <p:txBody>
          <a:bodyPr wrap="square" lIns="0" tIns="0" rIns="0" bIns="0" rtlCol="0" anchor="t"/>
          <a:lstStyle/>
          <a:p>
            <a:pPr algn="ctr" indent="0" marL="0">
              <a:lnSpc>
                <a:spcPts val="3600"/>
              </a:lnSpc>
              <a:buNone/>
            </a:pPr>
            <a:r>
              <a:rPr lang="en-US" sz="3600" b="1" dirty="0">
                <a:solidFill>
                  <a:srgbClr val="9B7BFF"/>
                </a:solidFill>
                <a:latin typeface="Inter" pitchFamily="34" charset="0"/>
                <a:ea typeface="Inter" pitchFamily="34" charset="-122"/>
                <a:cs typeface="Inter" pitchFamily="34" charset="-120"/>
              </a:rPr>
              <a:t>10%</a:t>
            </a:r>
            <a:endParaRPr lang="en-US" sz="3600" dirty="0"/>
          </a:p>
        </p:txBody>
      </p:sp>
      <p:sp>
        <p:nvSpPr>
          <p:cNvPr id="18" name="Text 16"/>
          <p:cNvSpPr/>
          <p:nvPr/>
        </p:nvSpPr>
        <p:spPr>
          <a:xfrm>
            <a:off x="6339295" y="2725489"/>
            <a:ext cx="2053310" cy="266700"/>
          </a:xfrm>
          <a:prstGeom prst="rect">
            <a:avLst/>
          </a:prstGeom>
          <a:noFill/>
          <a:ln/>
        </p:spPr>
        <p:txBody>
          <a:bodyPr wrap="square" lIns="0" tIns="0" rIns="0" bIns="0" rtlCol="0" anchor="t"/>
          <a:lstStyle/>
          <a:p>
            <a:pPr algn="ctr" indent="0" marL="0">
              <a:lnSpc>
                <a:spcPts val="2100"/>
              </a:lnSpc>
              <a:buNone/>
            </a:pPr>
            <a:r>
              <a:rPr lang="en-US" sz="1350" b="1" dirty="0">
                <a:solidFill>
                  <a:srgbClr val="EEF4FF"/>
                </a:solidFill>
                <a:latin typeface="Inter" pitchFamily="34" charset="0"/>
                <a:ea typeface="Inter" pitchFamily="34" charset="-122"/>
                <a:cs typeface="Inter" pitchFamily="34" charset="-120"/>
              </a:rPr>
              <a:t>Formal learning</a:t>
            </a:r>
            <a:endParaRPr lang="en-US" sz="1350" dirty="0"/>
          </a:p>
        </p:txBody>
      </p:sp>
      <p:sp>
        <p:nvSpPr>
          <p:cNvPr id="19" name="Text 17"/>
          <p:cNvSpPr/>
          <p:nvPr/>
        </p:nvSpPr>
        <p:spPr>
          <a:xfrm>
            <a:off x="6359426" y="3106489"/>
            <a:ext cx="2013049" cy="1015752"/>
          </a:xfrm>
          <a:prstGeom prst="rect">
            <a:avLst/>
          </a:prstGeom>
          <a:noFill/>
          <a:ln/>
        </p:spPr>
        <p:txBody>
          <a:bodyPr wrap="square" lIns="0" tIns="0" rIns="0" bIns="0" rtlCol="0" anchor="t"/>
          <a:lstStyle/>
          <a:p>
            <a:pPr algn="ctr" indent="0" marL="0">
              <a:lnSpc>
                <a:spcPts val="1601"/>
              </a:lnSpc>
              <a:buNone/>
            </a:pPr>
            <a:r>
              <a:rPr lang="en-US" sz="1104" dirty="0">
                <a:solidFill>
                  <a:srgbClr val="C8D4E8"/>
                </a:solidFill>
                <a:latin typeface="Inter" pitchFamily="34" charset="0"/>
                <a:ea typeface="Inter" pitchFamily="34" charset="-122"/>
                <a:cs typeface="Inter" pitchFamily="34" charset="-120"/>
              </a:rPr>
              <a:t>Khoá ngắn theo track: secure coding, Android lifecycle, concurrency, test design, regression strategy và AI workflow.</a:t>
            </a:r>
            <a:endParaRPr lang="en-US" sz="110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134392"/>
            <a:ext cx="11867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KPI đo hiệu quả</a:t>
            </a:r>
            <a:endParaRPr lang="en-US" sz="960" dirty="0"/>
          </a:p>
        </p:txBody>
      </p:sp>
      <p:sp>
        <p:nvSpPr>
          <p:cNvPr id="3" name="Text 1"/>
          <p:cNvSpPr/>
          <p:nvPr/>
        </p:nvSpPr>
        <p:spPr>
          <a:xfrm>
            <a:off x="495300" y="1271141"/>
            <a:ext cx="2590800" cy="2971800"/>
          </a:xfrm>
          <a:prstGeom prst="roundRect">
            <a:avLst>
              <a:gd name="adj" fmla="val 776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733425" y="234746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5" name="Text 3"/>
          <p:cNvSpPr/>
          <p:nvPr/>
        </p:nvSpPr>
        <p:spPr>
          <a:xfrm>
            <a:off x="733425" y="309041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6" name="Text 4"/>
          <p:cNvSpPr/>
          <p:nvPr/>
        </p:nvSpPr>
        <p:spPr>
          <a:xfrm>
            <a:off x="733425" y="383336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7" name="Text 5"/>
          <p:cNvSpPr/>
          <p:nvPr/>
        </p:nvSpPr>
        <p:spPr>
          <a:xfrm>
            <a:off x="3276600" y="1271141"/>
            <a:ext cx="2590800" cy="2971800"/>
          </a:xfrm>
          <a:prstGeom prst="roundRect">
            <a:avLst>
              <a:gd name="adj" fmla="val 776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3514725" y="234746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9" name="Text 7"/>
          <p:cNvSpPr/>
          <p:nvPr/>
        </p:nvSpPr>
        <p:spPr>
          <a:xfrm>
            <a:off x="3514725" y="289991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10" name="Text 8"/>
          <p:cNvSpPr/>
          <p:nvPr/>
        </p:nvSpPr>
        <p:spPr>
          <a:xfrm>
            <a:off x="3514725" y="345236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11" name="Text 9"/>
          <p:cNvSpPr/>
          <p:nvPr/>
        </p:nvSpPr>
        <p:spPr>
          <a:xfrm>
            <a:off x="6057900" y="1271141"/>
            <a:ext cx="2590800" cy="2971800"/>
          </a:xfrm>
          <a:prstGeom prst="roundRect">
            <a:avLst>
              <a:gd name="adj" fmla="val 776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12" name="Text 10"/>
          <p:cNvSpPr/>
          <p:nvPr/>
        </p:nvSpPr>
        <p:spPr>
          <a:xfrm>
            <a:off x="6296025" y="234746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13" name="Text 11"/>
          <p:cNvSpPr/>
          <p:nvPr/>
        </p:nvSpPr>
        <p:spPr>
          <a:xfrm>
            <a:off x="6296025" y="309041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14" name="Text 12"/>
          <p:cNvSpPr/>
          <p:nvPr/>
        </p:nvSpPr>
        <p:spPr>
          <a:xfrm>
            <a:off x="6296025" y="3833366"/>
            <a:ext cx="21145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15" name="Text 13"/>
          <p:cNvSpPr/>
          <p:nvPr/>
        </p:nvSpPr>
        <p:spPr>
          <a:xfrm>
            <a:off x="495300" y="4471541"/>
            <a:ext cx="8153400" cy="806351"/>
          </a:xfrm>
          <a:prstGeom prst="roundRect">
            <a:avLst>
              <a:gd name="adj" fmla="val 249479"/>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16" name="Text 14"/>
          <p:cNvSpPr/>
          <p:nvPr/>
        </p:nvSpPr>
        <p:spPr>
          <a:xfrm>
            <a:off x="495300" y="356741"/>
            <a:ext cx="8316468" cy="6858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KPI nên gắn trực tiếp với code review và test</a:t>
            </a:r>
            <a:endParaRPr lang="en-US" sz="3600" dirty="0"/>
          </a:p>
        </p:txBody>
      </p:sp>
      <p:sp>
        <p:nvSpPr>
          <p:cNvPr id="17" name="Text 15"/>
          <p:cNvSpPr/>
          <p:nvPr/>
        </p:nvSpPr>
        <p:spPr>
          <a:xfrm>
            <a:off x="733425" y="1509266"/>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Delivery KPI</a:t>
            </a:r>
            <a:endParaRPr lang="en-US" sz="1350" dirty="0"/>
          </a:p>
        </p:txBody>
      </p:sp>
      <p:sp>
        <p:nvSpPr>
          <p:cNvPr id="18" name="Text 16"/>
          <p:cNvSpPr/>
          <p:nvPr/>
        </p:nvSpPr>
        <p:spPr>
          <a:xfrm>
            <a:off x="733425" y="1928366"/>
            <a:ext cx="1265486"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Review turnaround time</a:t>
            </a:r>
            <a:endParaRPr lang="en-US" sz="1050" dirty="0"/>
          </a:p>
        </p:txBody>
      </p:sp>
      <p:sp>
        <p:nvSpPr>
          <p:cNvPr id="19" name="Text 17"/>
          <p:cNvSpPr/>
          <p:nvPr/>
        </p:nvSpPr>
        <p:spPr>
          <a:xfrm>
            <a:off x="1998911" y="1928366"/>
            <a:ext cx="849064"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-15% đến -25%</a:t>
            </a:r>
            <a:endParaRPr lang="en-US" sz="1050" dirty="0"/>
          </a:p>
        </p:txBody>
      </p:sp>
      <p:sp>
        <p:nvSpPr>
          <p:cNvPr id="20" name="Text 18"/>
          <p:cNvSpPr/>
          <p:nvPr/>
        </p:nvSpPr>
        <p:spPr>
          <a:xfrm>
            <a:off x="733425" y="2671316"/>
            <a:ext cx="1223814"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Draft test creation effort</a:t>
            </a:r>
            <a:endParaRPr lang="en-US" sz="1050" dirty="0"/>
          </a:p>
        </p:txBody>
      </p:sp>
      <p:sp>
        <p:nvSpPr>
          <p:cNvPr id="21" name="Text 19"/>
          <p:cNvSpPr/>
          <p:nvPr/>
        </p:nvSpPr>
        <p:spPr>
          <a:xfrm>
            <a:off x="1957239" y="2671316"/>
            <a:ext cx="890736"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+20% đến +30%</a:t>
            </a:r>
            <a:endParaRPr lang="en-US" sz="1050" dirty="0"/>
          </a:p>
        </p:txBody>
      </p:sp>
      <p:sp>
        <p:nvSpPr>
          <p:cNvPr id="22" name="Text 20"/>
          <p:cNvSpPr/>
          <p:nvPr/>
        </p:nvSpPr>
        <p:spPr>
          <a:xfrm>
            <a:off x="733425" y="3414266"/>
            <a:ext cx="1733550"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Regression suggestion hit rate</a:t>
            </a:r>
            <a:endParaRPr lang="en-US" sz="1050" dirty="0"/>
          </a:p>
        </p:txBody>
      </p:sp>
      <p:sp>
        <p:nvSpPr>
          <p:cNvPr id="23" name="Text 21"/>
          <p:cNvSpPr/>
          <p:nvPr/>
        </p:nvSpPr>
        <p:spPr>
          <a:xfrm>
            <a:off x="2466975" y="3414266"/>
            <a:ext cx="381000"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+25%</a:t>
            </a:r>
            <a:endParaRPr lang="en-US" sz="1050" dirty="0"/>
          </a:p>
        </p:txBody>
      </p:sp>
      <p:sp>
        <p:nvSpPr>
          <p:cNvPr id="24" name="Text 22"/>
          <p:cNvSpPr/>
          <p:nvPr/>
        </p:nvSpPr>
        <p:spPr>
          <a:xfrm>
            <a:off x="3514725" y="1509266"/>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Quality KPI</a:t>
            </a:r>
            <a:endParaRPr lang="en-US" sz="1350" dirty="0"/>
          </a:p>
        </p:txBody>
      </p:sp>
      <p:sp>
        <p:nvSpPr>
          <p:cNvPr id="25" name="Text 23"/>
          <p:cNvSpPr/>
          <p:nvPr/>
        </p:nvSpPr>
        <p:spPr>
          <a:xfrm>
            <a:off x="3514725" y="1928366"/>
            <a:ext cx="1180654"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Escaped defect rate</a:t>
            </a:r>
            <a:endParaRPr lang="en-US" sz="1050" dirty="0"/>
          </a:p>
        </p:txBody>
      </p:sp>
      <p:sp>
        <p:nvSpPr>
          <p:cNvPr id="26" name="Text 24"/>
          <p:cNvSpPr/>
          <p:nvPr/>
        </p:nvSpPr>
        <p:spPr>
          <a:xfrm>
            <a:off x="4695379" y="1928366"/>
            <a:ext cx="933896"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-10% đến -20%</a:t>
            </a:r>
            <a:endParaRPr lang="en-US" sz="1050" dirty="0"/>
          </a:p>
        </p:txBody>
      </p:sp>
      <p:sp>
        <p:nvSpPr>
          <p:cNvPr id="27" name="Text 25"/>
          <p:cNvSpPr/>
          <p:nvPr/>
        </p:nvSpPr>
        <p:spPr>
          <a:xfrm>
            <a:off x="3514725" y="2671316"/>
            <a:ext cx="1535049"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Reusable test asset rate</a:t>
            </a:r>
            <a:endParaRPr lang="en-US" sz="1050" dirty="0"/>
          </a:p>
        </p:txBody>
      </p:sp>
      <p:sp>
        <p:nvSpPr>
          <p:cNvPr id="28" name="Text 26"/>
          <p:cNvSpPr/>
          <p:nvPr/>
        </p:nvSpPr>
        <p:spPr>
          <a:xfrm>
            <a:off x="5238750" y="2671316"/>
            <a:ext cx="398336"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+30%</a:t>
            </a:r>
            <a:endParaRPr lang="en-US" sz="1050" dirty="0"/>
          </a:p>
        </p:txBody>
      </p:sp>
      <p:sp>
        <p:nvSpPr>
          <p:cNvPr id="29" name="Text 27"/>
          <p:cNvSpPr/>
          <p:nvPr/>
        </p:nvSpPr>
        <p:spPr>
          <a:xfrm>
            <a:off x="3514725" y="3223766"/>
            <a:ext cx="1603058"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Requirement-test linkage</a:t>
            </a:r>
            <a:endParaRPr lang="en-US" sz="1050" dirty="0"/>
          </a:p>
        </p:txBody>
      </p:sp>
      <p:sp>
        <p:nvSpPr>
          <p:cNvPr id="30" name="Text 28"/>
          <p:cNvSpPr/>
          <p:nvPr/>
        </p:nvSpPr>
        <p:spPr>
          <a:xfrm>
            <a:off x="5238750" y="3223766"/>
            <a:ext cx="398336" cy="1905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&gt;90%</a:t>
            </a:r>
            <a:endParaRPr lang="en-US" sz="1050" dirty="0"/>
          </a:p>
        </p:txBody>
      </p:sp>
      <p:sp>
        <p:nvSpPr>
          <p:cNvPr id="31" name="Text 29"/>
          <p:cNvSpPr/>
          <p:nvPr/>
        </p:nvSpPr>
        <p:spPr>
          <a:xfrm>
            <a:off x="6296025" y="1509266"/>
            <a:ext cx="2156841" cy="266700"/>
          </a:xfrm>
          <a:prstGeom prst="rect">
            <a:avLst/>
          </a:prstGeom>
          <a:noFill/>
          <a:ln/>
        </p:spPr>
        <p:txBody>
          <a:bodyPr wrap="square" lIns="0" tIns="0" rIns="0" bIns="0" rtlCol="0" anchor="t"/>
          <a:lstStyle/>
          <a:p>
            <a:pPr indent="0" marL="0">
              <a:lnSpc>
                <a:spcPts val="2100"/>
              </a:lnSpc>
              <a:buNone/>
            </a:pPr>
            <a:r>
              <a:rPr lang="en-US" sz="1350" b="1" dirty="0">
                <a:solidFill>
                  <a:srgbClr val="EEF4FF"/>
                </a:solidFill>
                <a:latin typeface="Inter" pitchFamily="34" charset="0"/>
                <a:ea typeface="Inter" pitchFamily="34" charset="-122"/>
                <a:cs typeface="Inter" pitchFamily="34" charset="-120"/>
              </a:rPr>
              <a:t>People KPI</a:t>
            </a:r>
            <a:endParaRPr lang="en-US" sz="1350" dirty="0"/>
          </a:p>
        </p:txBody>
      </p:sp>
      <p:sp>
        <p:nvSpPr>
          <p:cNvPr id="32" name="Text 30"/>
          <p:cNvSpPr/>
          <p:nvPr/>
        </p:nvSpPr>
        <p:spPr>
          <a:xfrm>
            <a:off x="6296025" y="1928366"/>
            <a:ext cx="1724025"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Lead/senior dùng workflow chuẩn</a:t>
            </a:r>
            <a:endParaRPr lang="en-US" sz="1050" dirty="0"/>
          </a:p>
        </p:txBody>
      </p:sp>
      <p:sp>
        <p:nvSpPr>
          <p:cNvPr id="33" name="Text 31"/>
          <p:cNvSpPr/>
          <p:nvPr/>
        </p:nvSpPr>
        <p:spPr>
          <a:xfrm>
            <a:off x="8020050" y="1928366"/>
            <a:ext cx="390525"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60%+</a:t>
            </a:r>
            <a:endParaRPr lang="en-US" sz="1050" dirty="0"/>
          </a:p>
        </p:txBody>
      </p:sp>
      <p:sp>
        <p:nvSpPr>
          <p:cNvPr id="34" name="Text 32"/>
          <p:cNvSpPr/>
          <p:nvPr/>
        </p:nvSpPr>
        <p:spPr>
          <a:xfrm>
            <a:off x="6296025" y="2671316"/>
            <a:ext cx="1306711"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Reviewer có checklist chuẩn</a:t>
            </a:r>
            <a:endParaRPr lang="en-US" sz="1050" dirty="0"/>
          </a:p>
        </p:txBody>
      </p:sp>
      <p:sp>
        <p:nvSpPr>
          <p:cNvPr id="35" name="Text 33"/>
          <p:cNvSpPr/>
          <p:nvPr/>
        </p:nvSpPr>
        <p:spPr>
          <a:xfrm>
            <a:off x="7602736" y="2671316"/>
            <a:ext cx="807839"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10–15% lực lượng</a:t>
            </a:r>
            <a:endParaRPr lang="en-US" sz="1050" dirty="0"/>
          </a:p>
        </p:txBody>
      </p:sp>
      <p:sp>
        <p:nvSpPr>
          <p:cNvPr id="36" name="Text 34"/>
          <p:cNvSpPr/>
          <p:nvPr/>
        </p:nvSpPr>
        <p:spPr>
          <a:xfrm>
            <a:off x="6296025" y="3414266"/>
            <a:ext cx="1445419"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Prompt/checklist update</a:t>
            </a:r>
            <a:endParaRPr lang="en-US" sz="1050" dirty="0"/>
          </a:p>
        </p:txBody>
      </p:sp>
      <p:sp>
        <p:nvSpPr>
          <p:cNvPr id="37" name="Text 35"/>
          <p:cNvSpPr/>
          <p:nvPr/>
        </p:nvSpPr>
        <p:spPr>
          <a:xfrm>
            <a:off x="7741444" y="3414266"/>
            <a:ext cx="669131" cy="381000"/>
          </a:xfrm>
          <a:prstGeom prst="rect">
            <a:avLst/>
          </a:prstGeom>
          <a:noFill/>
          <a:ln/>
        </p:spPr>
        <p:txBody>
          <a:bodyPr wrap="square" lIns="0" tIns="0" rIns="0" bIns="0" rtlCol="0" anchor="t"/>
          <a:lstStyle/>
          <a:p>
            <a:pPr indent="0" marL="0">
              <a:lnSpc>
                <a:spcPts val="1500"/>
              </a:lnSpc>
              <a:buNone/>
            </a:pPr>
            <a:r>
              <a:rPr lang="en-US" sz="1050" dirty="0">
                <a:solidFill>
                  <a:srgbClr val="EEF4FF"/>
                </a:solidFill>
                <a:latin typeface="Inter" pitchFamily="34" charset="0"/>
                <a:ea typeface="Inter" pitchFamily="34" charset="-122"/>
                <a:cs typeface="Inter" pitchFamily="34" charset="-120"/>
              </a:rPr>
              <a:t>hàng tháng</a:t>
            </a:r>
            <a:endParaRPr lang="en-US" sz="1050" dirty="0"/>
          </a:p>
        </p:txBody>
      </p:sp>
      <p:sp>
        <p:nvSpPr>
          <p:cNvPr id="38" name="Text 36"/>
          <p:cNvSpPr/>
          <p:nvPr/>
        </p:nvSpPr>
        <p:spPr>
          <a:xfrm>
            <a:off x="695325" y="4671566"/>
            <a:ext cx="7753350" cy="40630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Các mức % trên là mục tiêu điều hành đề xuất để pilot và điều chỉnh theo thực tế từng dự án; nguyên tắc là phải đo trước-sau trên cùng một squad để chứng minh ROI.</a:t>
            </a:r>
            <a:endParaRPr lang="en-US" sz="110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385018"/>
            <a:ext cx="967680"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Governance</a:t>
            </a:r>
            <a:endParaRPr lang="en-US" sz="960" dirty="0"/>
          </a:p>
        </p:txBody>
      </p:sp>
      <p:sp>
        <p:nvSpPr>
          <p:cNvPr id="3" name="Text 1"/>
          <p:cNvSpPr/>
          <p:nvPr/>
        </p:nvSpPr>
        <p:spPr>
          <a:xfrm>
            <a:off x="495300" y="1744414"/>
            <a:ext cx="3962400" cy="2012752"/>
          </a:xfrm>
          <a:prstGeom prst="roundRect">
            <a:avLst>
              <a:gd name="adj" fmla="val 999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686300" y="1744414"/>
            <a:ext cx="3962400" cy="2012752"/>
          </a:xfrm>
          <a:prstGeom prst="roundRect">
            <a:avLst>
              <a:gd name="adj" fmla="val 99947"/>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495300" y="3985766"/>
            <a:ext cx="3962400" cy="1542901"/>
          </a:xfrm>
          <a:prstGeom prst="roundRect">
            <a:avLst>
              <a:gd name="adj" fmla="val 13038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686300" y="3985766"/>
            <a:ext cx="3962400" cy="1542901"/>
          </a:xfrm>
          <a:prstGeom prst="roundRect">
            <a:avLst>
              <a:gd name="adj" fmla="val 13038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495300" y="106114"/>
            <a:ext cx="8153400" cy="13716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4 nguyên tắc để AI review và test không làm team chủ quan</a:t>
            </a:r>
            <a:endParaRPr lang="en-US" sz="3600" dirty="0"/>
          </a:p>
        </p:txBody>
      </p:sp>
      <p:sp>
        <p:nvSpPr>
          <p:cNvPr id="8" name="Text 6"/>
          <p:cNvSpPr/>
          <p:nvPr/>
        </p:nvSpPr>
        <p:spPr>
          <a:xfrm>
            <a:off x="771525" y="2020639"/>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1. Chỉ dùng AI ở bài toán có chuẩn đầu ra</a:t>
            </a:r>
            <a:endParaRPr lang="en-US" sz="1500" dirty="0"/>
          </a:p>
        </p:txBody>
      </p:sp>
      <p:sp>
        <p:nvSpPr>
          <p:cNvPr id="9" name="Text 7"/>
          <p:cNvSpPr/>
          <p:nvPr/>
        </p:nvSpPr>
        <p:spPr>
          <a:xfrm>
            <a:off x="771525" y="2668339"/>
            <a:ext cx="3409950" cy="812602"/>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Ưu tiên spec draft, code review support, unit test, log analysis, knowledge retrieval. Tránh dùng AI tự quyết ở các hạng mục safety/compliance nếu chưa có hàng rào rõ.</a:t>
            </a:r>
            <a:endParaRPr lang="en-US" sz="1104" dirty="0"/>
          </a:p>
        </p:txBody>
      </p:sp>
      <p:sp>
        <p:nvSpPr>
          <p:cNvPr id="10" name="Text 8"/>
          <p:cNvSpPr/>
          <p:nvPr/>
        </p:nvSpPr>
        <p:spPr>
          <a:xfrm>
            <a:off x="4962525" y="2020639"/>
            <a:ext cx="3409950" cy="5334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2. Tách rõ sinh nội dung và phê duyệt</a:t>
            </a:r>
            <a:endParaRPr lang="en-US" sz="1500" dirty="0"/>
          </a:p>
        </p:txBody>
      </p:sp>
      <p:sp>
        <p:nvSpPr>
          <p:cNvPr id="11" name="Text 9"/>
          <p:cNvSpPr/>
          <p:nvPr/>
        </p:nvSpPr>
        <p:spPr>
          <a:xfrm>
            <a:off x="4962525" y="2668339"/>
            <a:ext cx="34099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AI tạo nháp; kỹ sư, lead hoặc QA là người duyệt. Không để mô hình “agent sinh, agent tự xác nhận” trong khâu quan trọng.</a:t>
            </a:r>
            <a:endParaRPr lang="en-US" sz="1104" dirty="0"/>
          </a:p>
        </p:txBody>
      </p:sp>
      <p:sp>
        <p:nvSpPr>
          <p:cNvPr id="12" name="Text 10"/>
          <p:cNvSpPr/>
          <p:nvPr/>
        </p:nvSpPr>
        <p:spPr>
          <a:xfrm>
            <a:off x="771525" y="4261991"/>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3. Quản lý dữ liệu và IP nghiêm túc</a:t>
            </a:r>
            <a:endParaRPr lang="en-US" sz="1500" dirty="0"/>
          </a:p>
        </p:txBody>
      </p:sp>
      <p:sp>
        <p:nvSpPr>
          <p:cNvPr id="13" name="Text 11"/>
          <p:cNvSpPr/>
          <p:nvPr/>
        </p:nvSpPr>
        <p:spPr>
          <a:xfrm>
            <a:off x="771525" y="4642991"/>
            <a:ext cx="34099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Phân loại tài liệu nào được đưa vào agent, tài liệu nào chỉ dùng nội bộ kín; lưu log prompt/output cho use case quan trọng.</a:t>
            </a:r>
            <a:endParaRPr lang="en-US" sz="1104" dirty="0"/>
          </a:p>
        </p:txBody>
      </p:sp>
      <p:sp>
        <p:nvSpPr>
          <p:cNvPr id="14" name="Text 12"/>
          <p:cNvSpPr/>
          <p:nvPr/>
        </p:nvSpPr>
        <p:spPr>
          <a:xfrm>
            <a:off x="4962525" y="4261991"/>
            <a:ext cx="3478149" cy="266700"/>
          </a:xfrm>
          <a:prstGeom prst="rect">
            <a:avLst/>
          </a:prstGeom>
          <a:noFill/>
          <a:ln/>
        </p:spPr>
        <p:txBody>
          <a:bodyPr wrap="square" lIns="0" tIns="0" rIns="0" bIns="0" rtlCol="0" anchor="t"/>
          <a:lstStyle/>
          <a:p>
            <a:pPr indent="0" marL="0">
              <a:lnSpc>
                <a:spcPts val="2100"/>
              </a:lnSpc>
              <a:buNone/>
            </a:pPr>
            <a:r>
              <a:rPr lang="en-US" sz="1500" b="1" dirty="0">
                <a:solidFill>
                  <a:srgbClr val="EEF4FF"/>
                </a:solidFill>
                <a:latin typeface="Inter" pitchFamily="34" charset="0"/>
                <a:ea typeface="Inter" pitchFamily="34" charset="-122"/>
                <a:cs typeface="Inter" pitchFamily="34" charset="-120"/>
              </a:rPr>
              <a:t>4. Xây CoE để mở rộng có kiểm soát</a:t>
            </a:r>
            <a:endParaRPr lang="en-US" sz="1500" dirty="0"/>
          </a:p>
        </p:txBody>
      </p:sp>
      <p:sp>
        <p:nvSpPr>
          <p:cNvPr id="15" name="Text 13"/>
          <p:cNvSpPr/>
          <p:nvPr/>
        </p:nvSpPr>
        <p:spPr>
          <a:xfrm>
            <a:off x="4962525" y="4642991"/>
            <a:ext cx="3409950" cy="609451"/>
          </a:xfrm>
          <a:prstGeom prst="rect">
            <a:avLst/>
          </a:prstGeom>
          <a:noFill/>
          <a:ln/>
        </p:spPr>
        <p:txBody>
          <a:bodyPr wrap="square" lIns="0" tIns="0" rIns="0" bIns="0" rtlCol="0" anchor="t"/>
          <a:lstStyle/>
          <a:p>
            <a:pPr indent="0" marL="0">
              <a:lnSpc>
                <a:spcPts val="1601"/>
              </a:lnSpc>
              <a:buNone/>
            </a:pPr>
            <a:r>
              <a:rPr lang="en-US" sz="1104" dirty="0">
                <a:solidFill>
                  <a:srgbClr val="C8D4E8"/>
                </a:solidFill>
                <a:latin typeface="Inter" pitchFamily="34" charset="0"/>
                <a:ea typeface="Inter" pitchFamily="34" charset="-122"/>
                <a:cs typeface="Inter" pitchFamily="34" charset="-120"/>
              </a:rPr>
              <a:t>CoE không làm thay delivery team, mà cung cấp framework, best practice, accelerator, benchmark và hỗ trợ rollout nhanh hơn.</a:t>
            </a:r>
            <a:endParaRPr lang="en-US" sz="1104"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95300" y="-721816"/>
            <a:ext cx="1453455" cy="338733"/>
          </a:xfrm>
          <a:prstGeom prst="roundRect">
            <a:avLst>
              <a:gd name="adj" fmla="val 26967718"/>
            </a:avLst>
          </a:prstGeom>
          <a:solidFill>
            <a:srgbClr val="FFFFFF">
              <a:alpha val="8000"/>
            </a:srgbClr>
          </a:solidFill>
          <a:ln w="9525">
            <a:solidFill>
              <a:srgbClr val="FFFFFF"/>
            </a:solidFill>
          </a:ln>
        </p:spPr>
        <p:txBody>
          <a:bodyPr wrap="square" lIns="121920" tIns="121920" rIns="121920" bIns="121920" rtlCol="0" anchor="t">
            <a:normAutofit/>
          </a:bodyPr>
          <a:lstStyle/>
          <a:p>
            <a:pPr algn="l" indent="0" marL="0">
              <a:buNone/>
            </a:pPr>
            <a:r>
              <a:rPr lang="en-US" sz="960" dirty="0">
                <a:solidFill>
                  <a:srgbClr val="C8D4E8"/>
                </a:solidFill>
                <a:latin typeface="Inter" pitchFamily="34" charset="0"/>
                <a:ea typeface="Inter" pitchFamily="34" charset="-122"/>
                <a:cs typeface="Inter" pitchFamily="34" charset="-120"/>
              </a:rPr>
              <a:t>Đề xuất với lãnh đạo</a:t>
            </a:r>
            <a:endParaRPr lang="en-US" sz="960" dirty="0"/>
          </a:p>
        </p:txBody>
      </p:sp>
      <p:sp>
        <p:nvSpPr>
          <p:cNvPr id="3" name="Text 1"/>
          <p:cNvSpPr/>
          <p:nvPr/>
        </p:nvSpPr>
        <p:spPr>
          <a:xfrm>
            <a:off x="495300" y="721816"/>
            <a:ext cx="3981450" cy="1085850"/>
          </a:xfrm>
          <a:prstGeom prst="roundRect">
            <a:avLst>
              <a:gd name="adj" fmla="val 18526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667250" y="721816"/>
            <a:ext cx="3981450" cy="1085850"/>
          </a:xfrm>
          <a:prstGeom prst="roundRect">
            <a:avLst>
              <a:gd name="adj" fmla="val 18526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495300" y="1998166"/>
            <a:ext cx="3981450" cy="1085850"/>
          </a:xfrm>
          <a:prstGeom prst="roundRect">
            <a:avLst>
              <a:gd name="adj" fmla="val 18526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6" name="Text 4"/>
          <p:cNvSpPr/>
          <p:nvPr/>
        </p:nvSpPr>
        <p:spPr>
          <a:xfrm>
            <a:off x="4667250" y="1998166"/>
            <a:ext cx="3981450" cy="1085850"/>
          </a:xfrm>
          <a:prstGeom prst="roundRect">
            <a:avLst>
              <a:gd name="adj" fmla="val 18526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495300" y="3274516"/>
            <a:ext cx="3981450" cy="1085850"/>
          </a:xfrm>
          <a:prstGeom prst="roundRect">
            <a:avLst>
              <a:gd name="adj" fmla="val 18526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4667250" y="3274516"/>
            <a:ext cx="3981450" cy="1085850"/>
          </a:xfrm>
          <a:prstGeom prst="roundRect">
            <a:avLst>
              <a:gd name="adj" fmla="val 18526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9" name="Text 7"/>
          <p:cNvSpPr/>
          <p:nvPr/>
        </p:nvSpPr>
        <p:spPr>
          <a:xfrm>
            <a:off x="495300" y="4588966"/>
            <a:ext cx="8153400" cy="1276350"/>
          </a:xfrm>
          <a:prstGeom prst="roundRect">
            <a:avLst>
              <a:gd name="adj" fmla="val 157612"/>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10" name="Text 8"/>
          <p:cNvSpPr/>
          <p:nvPr/>
        </p:nvSpPr>
        <p:spPr>
          <a:xfrm>
            <a:off x="495300" y="-230684"/>
            <a:ext cx="8316468" cy="685800"/>
          </a:xfrm>
          <a:prstGeom prst="rect">
            <a:avLst/>
          </a:prstGeom>
          <a:noFill/>
          <a:ln/>
        </p:spPr>
        <p:txBody>
          <a:bodyPr wrap="square" lIns="0" tIns="0" rIns="0" bIns="0" rtlCol="0" anchor="t"/>
          <a:lstStyle/>
          <a:p>
            <a:pPr indent="0" marL="0">
              <a:lnSpc>
                <a:spcPts val="5400"/>
              </a:lnSpc>
              <a:buNone/>
            </a:pPr>
            <a:r>
              <a:rPr lang="en-US" sz="3600" b="1" dirty="0">
                <a:solidFill>
                  <a:srgbClr val="EEF4FF"/>
                </a:solidFill>
                <a:latin typeface="Instrument Serif" pitchFamily="34" charset="0"/>
                <a:ea typeface="Instrument Serif" pitchFamily="34" charset="-122"/>
                <a:cs typeface="Instrument Serif" pitchFamily="34" charset="-120"/>
              </a:rPr>
              <a:t>6 việc technical lead có thể đề xuất làm ngay</a:t>
            </a:r>
            <a:endParaRPr lang="en-US" sz="3600" dirty="0"/>
          </a:p>
        </p:txBody>
      </p:sp>
      <p:sp>
        <p:nvSpPr>
          <p:cNvPr id="11" name="Text 9"/>
          <p:cNvSpPr/>
          <p:nvPr/>
        </p:nvSpPr>
        <p:spPr>
          <a:xfrm>
            <a:off x="695325" y="940891"/>
            <a:ext cx="223457"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01.</a:t>
            </a:r>
            <a:endParaRPr lang="en-US" sz="1200" dirty="0"/>
          </a:p>
        </p:txBody>
      </p:sp>
      <p:sp>
        <p:nvSpPr>
          <p:cNvPr id="12" name="Text 10"/>
          <p:cNvSpPr/>
          <p:nvPr/>
        </p:nvSpPr>
        <p:spPr>
          <a:xfrm>
            <a:off x="4867275" y="940891"/>
            <a:ext cx="252603"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02.</a:t>
            </a:r>
            <a:endParaRPr lang="en-US" sz="1200" dirty="0"/>
          </a:p>
        </p:txBody>
      </p:sp>
      <p:sp>
        <p:nvSpPr>
          <p:cNvPr id="13" name="Text 11"/>
          <p:cNvSpPr/>
          <p:nvPr/>
        </p:nvSpPr>
        <p:spPr>
          <a:xfrm>
            <a:off x="695325" y="2217241"/>
            <a:ext cx="252603"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03.</a:t>
            </a:r>
            <a:endParaRPr lang="en-US" sz="1200" dirty="0"/>
          </a:p>
        </p:txBody>
      </p:sp>
      <p:sp>
        <p:nvSpPr>
          <p:cNvPr id="14" name="Text 12"/>
          <p:cNvSpPr/>
          <p:nvPr/>
        </p:nvSpPr>
        <p:spPr>
          <a:xfrm>
            <a:off x="4867275" y="2217241"/>
            <a:ext cx="252603"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04.</a:t>
            </a:r>
            <a:endParaRPr lang="en-US" sz="1200" dirty="0"/>
          </a:p>
        </p:txBody>
      </p:sp>
      <p:sp>
        <p:nvSpPr>
          <p:cNvPr id="15" name="Text 13"/>
          <p:cNvSpPr/>
          <p:nvPr/>
        </p:nvSpPr>
        <p:spPr>
          <a:xfrm>
            <a:off x="695325" y="3493591"/>
            <a:ext cx="252603"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05.</a:t>
            </a:r>
            <a:endParaRPr lang="en-US" sz="1200" dirty="0"/>
          </a:p>
        </p:txBody>
      </p:sp>
      <p:sp>
        <p:nvSpPr>
          <p:cNvPr id="16" name="Text 14"/>
          <p:cNvSpPr/>
          <p:nvPr/>
        </p:nvSpPr>
        <p:spPr>
          <a:xfrm>
            <a:off x="4867275" y="3493591"/>
            <a:ext cx="252603" cy="190500"/>
          </a:xfrm>
          <a:prstGeom prst="rect">
            <a:avLst/>
          </a:prstGeom>
          <a:noFill/>
          <a:ln/>
        </p:spPr>
        <p:txBody>
          <a:bodyPr wrap="square" lIns="0" tIns="0" rIns="0" bIns="0" rtlCol="0" anchor="t"/>
          <a:lstStyle/>
          <a:p>
            <a:pPr indent="0" marL="0">
              <a:lnSpc>
                <a:spcPts val="1800"/>
              </a:lnSpc>
              <a:buNone/>
            </a:pPr>
            <a:r>
              <a:rPr lang="en-US" sz="1200" b="1" dirty="0">
                <a:solidFill>
                  <a:srgbClr val="4F8CFF"/>
                </a:solidFill>
                <a:latin typeface="Inter" pitchFamily="34" charset="0"/>
                <a:ea typeface="Inter" pitchFamily="34" charset="-122"/>
                <a:cs typeface="Inter" pitchFamily="34" charset="-120"/>
              </a:rPr>
              <a:t>06.</a:t>
            </a:r>
            <a:endParaRPr lang="en-US" sz="1200" dirty="0"/>
          </a:p>
        </p:txBody>
      </p:sp>
      <p:sp>
        <p:nvSpPr>
          <p:cNvPr id="17" name="Text 15"/>
          <p:cNvSpPr/>
          <p:nvPr/>
        </p:nvSpPr>
        <p:spPr>
          <a:xfrm>
            <a:off x="733425" y="4827091"/>
            <a:ext cx="7677150" cy="800100"/>
          </a:xfrm>
          <a:prstGeom prst="rect">
            <a:avLst/>
          </a:prstGeom>
          <a:noFill/>
          <a:ln/>
        </p:spPr>
        <p:txBody>
          <a:bodyPr wrap="square" lIns="0" tIns="0" rIns="0" bIns="0" rtlCol="0" anchor="t"/>
          <a:lstStyle/>
          <a:p>
            <a:pPr indent="0" marL="0">
              <a:lnSpc>
                <a:spcPts val="2100"/>
              </a:lnSpc>
              <a:buNone/>
            </a:pPr>
            <a:r>
              <a:rPr lang="en-US" sz="1350" dirty="0">
                <a:solidFill>
                  <a:srgbClr val="C8D4E8"/>
                </a:solidFill>
                <a:latin typeface="Inter" pitchFamily="34" charset="0"/>
                <a:ea typeface="Inter" pitchFamily="34" charset="-122"/>
                <a:cs typeface="Inter" pitchFamily="34" charset="-120"/>
              </a:rPr>
              <a:t>Nếu làm theo hướng này, đơn vị sẽ có năng lực tổ chức khó sao chép: hiểu bài toán khách hàng, giữ được chất lượng automotive và scale delivery tốt hơn thay vì phụ thuộc vài cá nhân giỏi.</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222"/>
        </a:solidFill>
      </p:bgPr>
    </p:bg>
    <p:spTree>
      <p:nvGrpSpPr>
        <p:cNvPr id="1" name=""/>
        <p:cNvGrpSpPr/>
        <p:nvPr/>
      </p:nvGrpSpPr>
      <p:grpSpPr>
        <a:xfrm>
          <a:off x="0" y="0"/>
          <a:ext cx="0" cy="0"/>
          <a:chOff x="0" y="0"/>
          <a:chExt cx="0" cy="0"/>
        </a:xfrm>
      </p:grpSpPr>
      <p:sp>
        <p:nvSpPr>
          <p:cNvPr id="2" name="Text 0"/>
          <p:cNvSpPr/>
          <p:nvPr/>
        </p:nvSpPr>
        <p:spPr>
          <a:xfrm>
            <a:off x="413766" y="-169218"/>
            <a:ext cx="8316468" cy="1600200"/>
          </a:xfrm>
          <a:prstGeom prst="rect">
            <a:avLst/>
          </a:prstGeom>
          <a:noFill/>
          <a:ln/>
        </p:spPr>
        <p:txBody>
          <a:bodyPr wrap="square" lIns="0" tIns="0" rIns="0" bIns="0" rtlCol="0" anchor="t"/>
          <a:lstStyle/>
          <a:p>
            <a:pPr algn="ctr" indent="0" marL="0">
              <a:lnSpc>
                <a:spcPts val="12600"/>
              </a:lnSpc>
              <a:buNone/>
            </a:pPr>
            <a:r>
              <a:rPr lang="en-US" sz="8400" dirty="0">
                <a:solidFill>
                  <a:srgbClr val="EEF4FF"/>
                </a:solidFill>
                <a:latin typeface="Inter" pitchFamily="34" charset="0"/>
                <a:ea typeface="Inter" pitchFamily="34" charset="-122"/>
                <a:cs typeface="Inter" pitchFamily="34" charset="-120"/>
              </a:rPr>
              <a:t>🚘</a:t>
            </a:r>
            <a:endParaRPr lang="en-US" sz="8400" dirty="0"/>
          </a:p>
        </p:txBody>
      </p:sp>
      <p:sp>
        <p:nvSpPr>
          <p:cNvPr id="3" name="Text 1"/>
          <p:cNvSpPr/>
          <p:nvPr/>
        </p:nvSpPr>
        <p:spPr>
          <a:xfrm>
            <a:off x="495300" y="1621482"/>
            <a:ext cx="8153400" cy="2194322"/>
          </a:xfrm>
          <a:prstGeom prst="rect">
            <a:avLst/>
          </a:prstGeom>
          <a:noFill/>
          <a:ln/>
        </p:spPr>
        <p:txBody>
          <a:bodyPr wrap="square" lIns="0" tIns="0" rIns="0" bIns="0" rtlCol="0" anchor="t"/>
          <a:lstStyle/>
          <a:p>
            <a:pPr algn="ctr" indent="0" marL="0">
              <a:lnSpc>
                <a:spcPts val="8640"/>
              </a:lnSpc>
              <a:buNone/>
            </a:pPr>
            <a:r>
              <a:rPr lang="en-US" sz="5760" b="1" dirty="0">
                <a:solidFill>
                  <a:srgbClr val="4F8CFF"/>
                </a:solidFill>
                <a:latin typeface="Instrument Serif" pitchFamily="34" charset="0"/>
                <a:ea typeface="Instrument Serif" pitchFamily="34" charset="-122"/>
                <a:cs typeface="Instrument Serif" pitchFamily="34" charset="-120"/>
              </a:rPr>
              <a:t>Thông điệp chốt theo góc nhìn technical lead</a:t>
            </a:r>
            <a:endParaRPr lang="en-US" sz="5760" dirty="0"/>
          </a:p>
        </p:txBody>
      </p:sp>
      <p:sp>
        <p:nvSpPr>
          <p:cNvPr id="4" name="Text 2"/>
          <p:cNvSpPr/>
          <p:nvPr/>
        </p:nvSpPr>
        <p:spPr>
          <a:xfrm>
            <a:off x="495300" y="3968204"/>
            <a:ext cx="8153400" cy="925562"/>
          </a:xfrm>
          <a:prstGeom prst="rect">
            <a:avLst/>
          </a:prstGeom>
          <a:noFill/>
          <a:ln/>
        </p:spPr>
        <p:txBody>
          <a:bodyPr wrap="square" lIns="0" tIns="0" rIns="0" bIns="0" rtlCol="0" anchor="t"/>
          <a:lstStyle/>
          <a:p>
            <a:pPr algn="ctr" indent="0" marL="0">
              <a:lnSpc>
                <a:spcPts val="2430"/>
              </a:lnSpc>
              <a:buNone/>
            </a:pPr>
            <a:r>
              <a:rPr lang="en-US" sz="1620" dirty="0">
                <a:solidFill>
                  <a:srgbClr val="C8D4E8"/>
                </a:solidFill>
                <a:latin typeface="Inter" pitchFamily="34" charset="0"/>
                <a:ea typeface="Inter" pitchFamily="34" charset="-122"/>
                <a:cs typeface="Inter" pitchFamily="34" charset="-120"/>
              </a:rPr>
              <a:t>Với đội IVI, điểm bắt đầu thực tế nhất cho AI không phải chỗ quá rộng. Hãy bắt đầu ở code review và test, nơi lead nhìn thấy hiệu quả rõ, đo được bằng KPI và biến được thành cách làm chuẩn của team.</a:t>
            </a:r>
            <a:endParaRPr lang="en-US" sz="1620" dirty="0"/>
          </a:p>
        </p:txBody>
      </p:sp>
      <p:sp>
        <p:nvSpPr>
          <p:cNvPr id="5" name="Text 3"/>
          <p:cNvSpPr/>
          <p:nvPr/>
        </p:nvSpPr>
        <p:spPr>
          <a:xfrm>
            <a:off x="413766" y="5122366"/>
            <a:ext cx="8316468" cy="190500"/>
          </a:xfrm>
          <a:prstGeom prst="rect">
            <a:avLst/>
          </a:prstGeom>
          <a:noFill/>
          <a:ln/>
        </p:spPr>
        <p:txBody>
          <a:bodyPr wrap="square" lIns="0" tIns="0" rIns="0" bIns="0" rtlCol="0" anchor="t"/>
          <a:lstStyle/>
          <a:p>
            <a:pPr algn="ctr" indent="0" marL="0">
              <a:lnSpc>
                <a:spcPts val="1500"/>
              </a:lnSpc>
              <a:buNone/>
            </a:pPr>
            <a:r>
              <a:rPr lang="en-US" sz="1050" dirty="0">
                <a:solidFill>
                  <a:srgbClr val="91A4C6"/>
                </a:solidFill>
                <a:latin typeface="Inter" pitchFamily="34" charset="0"/>
                <a:ea typeface="Inter" pitchFamily="34" charset="-122"/>
                <a:cs typeface="Inter" pitchFamily="34" charset="-120"/>
              </a:rPr>
              <a:t>People first · AI enabled · Automotive grade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Perplexity</cp:lastModifiedBy>
  <cp:revision>1</cp:revision>
  <dcterms:created xsi:type="dcterms:W3CDTF">2026-07-01T15:16:38Z</dcterms:created>
  <dcterms:modified xsi:type="dcterms:W3CDTF">2026-07-01T15:16:38Z</dcterms:modified>
</cp:coreProperties>
</file>