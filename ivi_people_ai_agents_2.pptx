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3130897" y="-121741"/>
            <a:ext cx="288220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ctr" indent="0" marL="0">
              <a:buNone/>
            </a:pPr>
            <a:r>
              <a:rPr lang="en-US" sz="960" dirty="0">
                <a:solidFill>
                  <a:srgbClr val="C8D4E8"/>
                </a:solidFill>
                <a:latin typeface="Inter" pitchFamily="34" charset="0"/>
                <a:ea typeface="Inter" pitchFamily="34" charset="-122"/>
                <a:cs typeface="Inter" pitchFamily="34" charset="-120"/>
              </a:rPr>
              <a:t>Góc nhìn vận hành nội bộ · IVI · AI Agent Era</a:t>
            </a:r>
            <a:endParaRPr lang="en-US" sz="960" dirty="0"/>
          </a:p>
        </p:txBody>
      </p:sp>
      <p:sp>
        <p:nvSpPr>
          <p:cNvPr id="3" name="Text 1"/>
          <p:cNvSpPr/>
          <p:nvPr/>
        </p:nvSpPr>
        <p:spPr>
          <a:xfrm>
            <a:off x="495300" y="407491"/>
            <a:ext cx="8153400" cy="3429000"/>
          </a:xfrm>
          <a:prstGeom prst="rect">
            <a:avLst/>
          </a:prstGeom>
          <a:noFill/>
          <a:ln/>
        </p:spPr>
        <p:txBody>
          <a:bodyPr wrap="square" lIns="0" tIns="0" rIns="0" bIns="0" rtlCol="0" anchor="t"/>
          <a:lstStyle/>
          <a:p>
            <a:pPr algn="ctr" indent="0" marL="0">
              <a:lnSpc>
                <a:spcPts val="9000"/>
              </a:lnSpc>
              <a:buNone/>
            </a:pPr>
            <a:r>
              <a:rPr lang="en-US" sz="6000" b="1" dirty="0">
                <a:solidFill>
                  <a:srgbClr val="4F8CFF"/>
                </a:solidFill>
                <a:latin typeface="Instrument Serif" pitchFamily="34" charset="0"/>
                <a:ea typeface="Instrument Serif" pitchFamily="34" charset="-122"/>
                <a:cs typeface="Instrument Serif" pitchFamily="34" charset="-120"/>
              </a:rPr>
              <a:t>Phát triển nhân sự IVI trong thời đại dự án vận hành cùng nhiều AI Agent</a:t>
            </a:r>
            <a:endParaRPr lang="en-US" sz="6000" dirty="0"/>
          </a:p>
        </p:txBody>
      </p:sp>
      <p:sp>
        <p:nvSpPr>
          <p:cNvPr id="4" name="Text 2"/>
          <p:cNvSpPr/>
          <p:nvPr/>
        </p:nvSpPr>
        <p:spPr>
          <a:xfrm>
            <a:off x="495300" y="3988891"/>
            <a:ext cx="8153400" cy="857250"/>
          </a:xfrm>
          <a:prstGeom prst="rect">
            <a:avLst/>
          </a:prstGeom>
          <a:noFill/>
          <a:ln/>
        </p:spPr>
        <p:txBody>
          <a:bodyPr wrap="square" lIns="0" tIns="0" rIns="0" bIns="0" rtlCol="0" anchor="t"/>
          <a:lstStyle/>
          <a:p>
            <a:pPr algn="ctr" indent="0" marL="0">
              <a:lnSpc>
                <a:spcPts val="2250"/>
              </a:lnSpc>
              <a:buNone/>
            </a:pPr>
            <a:r>
              <a:rPr lang="en-US" sz="1500" dirty="0">
                <a:solidFill>
                  <a:srgbClr val="C8D4E8"/>
                </a:solidFill>
                <a:latin typeface="Inter" pitchFamily="34" charset="0"/>
                <a:ea typeface="Inter" pitchFamily="34" charset="-122"/>
                <a:cs typeface="Inter" pitchFamily="34" charset="-120"/>
              </a:rPr>
              <a:t>Từ cách làm thiên về cấp người theo đầu việc sang cách làm xây năng lực đơn vị: biết dùng AI để tăng tốc delivery nhưng vẫn giữ kỷ luật chất lượng, tiến độ và cam kết với khách hàng.</a:t>
            </a:r>
            <a:endParaRPr lang="en-US" sz="1500" dirty="0"/>
          </a:p>
        </p:txBody>
      </p:sp>
      <p:sp>
        <p:nvSpPr>
          <p:cNvPr id="5" name="Text 3"/>
          <p:cNvSpPr/>
          <p:nvPr/>
        </p:nvSpPr>
        <p:spPr>
          <a:xfrm>
            <a:off x="413766" y="5036641"/>
            <a:ext cx="8316468" cy="228600"/>
          </a:xfrm>
          <a:prstGeom prst="rect">
            <a:avLst/>
          </a:prstGeom>
          <a:noFill/>
          <a:ln/>
        </p:spPr>
        <p:txBody>
          <a:bodyPr wrap="square" lIns="0" tIns="0" rIns="0" bIns="0" rtlCol="0" anchor="t"/>
          <a:lstStyle/>
          <a:p>
            <a:pPr algn="ctr" indent="0" marL="0">
              <a:lnSpc>
                <a:spcPts val="1800"/>
              </a:lnSpc>
              <a:buNone/>
            </a:pPr>
            <a:r>
              <a:rPr lang="en-US" sz="1200" dirty="0">
                <a:solidFill>
                  <a:srgbClr val="91A4C6"/>
                </a:solidFill>
                <a:latin typeface="Inter" pitchFamily="34" charset="0"/>
                <a:ea typeface="Inter" pitchFamily="34" charset="-122"/>
                <a:cs typeface="Inter" pitchFamily="34" charset="-120"/>
              </a:rPr>
              <a:t>Bản trình bày theo giọng FPT nội bộ, sát thực tế vận hành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1280368"/>
            <a:ext cx="7676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Bối cảnh</a:t>
            </a:r>
            <a:endParaRPr lang="en-US" sz="960" dirty="0"/>
          </a:p>
        </p:txBody>
      </p:sp>
      <p:sp>
        <p:nvSpPr>
          <p:cNvPr id="3" name="Text 1"/>
          <p:cNvSpPr/>
          <p:nvPr/>
        </p:nvSpPr>
        <p:spPr>
          <a:xfrm>
            <a:off x="495300" y="849064"/>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849064"/>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750766"/>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750766"/>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789236"/>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Vì sao bài toán này chạm trực tiếp vào vận hành đơn vị IVI</a:t>
            </a:r>
            <a:endParaRPr lang="en-US" sz="3600" dirty="0"/>
          </a:p>
        </p:txBody>
      </p:sp>
      <p:sp>
        <p:nvSpPr>
          <p:cNvPr id="8" name="Text 6"/>
          <p:cNvSpPr/>
          <p:nvPr/>
        </p:nvSpPr>
        <p:spPr>
          <a:xfrm>
            <a:off x="771525" y="1125289"/>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9" name="Text 7"/>
          <p:cNvSpPr/>
          <p:nvPr/>
        </p:nvSpPr>
        <p:spPr>
          <a:xfrm>
            <a:off x="771525" y="1582489"/>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Ô tô đang chuyển mạnh sang SDV</a:t>
            </a:r>
            <a:endParaRPr lang="en-US" sz="1500" dirty="0"/>
          </a:p>
        </p:txBody>
      </p:sp>
      <p:sp>
        <p:nvSpPr>
          <p:cNvPr id="10" name="Text 8"/>
          <p:cNvSpPr/>
          <p:nvPr/>
        </p:nvSpPr>
        <p:spPr>
          <a:xfrm>
            <a:off x="771525" y="1963489"/>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Bài toán của khách hàng đang dịch rất nhanh sang SDV: tính năng lên xe nhiều hơn, cập nhật phần mềm liên tục hơn, kỳ vọng time-to-market ngắn hơn. Điều đó kéo theo áp lực trực tiếp lên delivery, khả năng reuse và chất lượng đầu ra của đội IVI.</a:t>
            </a:r>
            <a:endParaRPr lang="en-US" sz="1104" dirty="0"/>
          </a:p>
        </p:txBody>
      </p:sp>
      <p:sp>
        <p:nvSpPr>
          <p:cNvPr id="11" name="Text 9"/>
          <p:cNvSpPr/>
          <p:nvPr/>
        </p:nvSpPr>
        <p:spPr>
          <a:xfrm>
            <a:off x="4962525" y="1125289"/>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2" name="Text 10"/>
          <p:cNvSpPr/>
          <p:nvPr/>
        </p:nvSpPr>
        <p:spPr>
          <a:xfrm>
            <a:off x="4962525" y="158248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AI Agent đang đi vào workflow kỹ thuật</a:t>
            </a:r>
            <a:endParaRPr lang="en-US" sz="1500" dirty="0"/>
          </a:p>
        </p:txBody>
      </p:sp>
      <p:sp>
        <p:nvSpPr>
          <p:cNvPr id="13" name="Text 11"/>
          <p:cNvSpPr/>
          <p:nvPr/>
        </p:nvSpPr>
        <p:spPr>
          <a:xfrm>
            <a:off x="4962525" y="2230189"/>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AI Agent có thể hỗ trợ nhiều khâu từ requirement, code, tài liệu đến test; nhưng trong thực tế delivery, nếu spec lỏng và review yếu thì AI chỉ làm đội tạo output nhanh hơn, chứ không làm dự án chắc hơn.</a:t>
            </a:r>
            <a:endParaRPr lang="en-US" sz="1104" dirty="0"/>
          </a:p>
        </p:txBody>
      </p:sp>
      <p:sp>
        <p:nvSpPr>
          <p:cNvPr id="14" name="Text 12"/>
          <p:cNvSpPr/>
          <p:nvPr/>
        </p:nvSpPr>
        <p:spPr>
          <a:xfrm>
            <a:off x="771525" y="4026991"/>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5" name="Text 13"/>
          <p:cNvSpPr/>
          <p:nvPr/>
        </p:nvSpPr>
        <p:spPr>
          <a:xfrm>
            <a:off x="771525" y="4484191"/>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IVI là mặt trận trải nghiệm người dùng</a:t>
            </a:r>
            <a:endParaRPr lang="en-US" sz="1500" dirty="0"/>
          </a:p>
        </p:txBody>
      </p:sp>
      <p:sp>
        <p:nvSpPr>
          <p:cNvPr id="16" name="Text 14"/>
          <p:cNvSpPr/>
          <p:nvPr/>
        </p:nvSpPr>
        <p:spPr>
          <a:xfrm>
            <a:off x="771525" y="5131891"/>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IVI là chỗ giao nhau của HMI, Android/AAOS, connectivity, navigation, middleware, Vehicle HAL và OTA; nghĩa là mọi điểm yếu về phối hợp team, spec hay integration đều lộ ra rất nhanh trên dự án thực tế.</a:t>
            </a:r>
            <a:endParaRPr lang="en-US" sz="1104" dirty="0"/>
          </a:p>
        </p:txBody>
      </p:sp>
      <p:sp>
        <p:nvSpPr>
          <p:cNvPr id="17" name="Text 15"/>
          <p:cNvSpPr/>
          <p:nvPr/>
        </p:nvSpPr>
        <p:spPr>
          <a:xfrm>
            <a:off x="4962525" y="4026991"/>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8" name="Text 16"/>
          <p:cNvSpPr/>
          <p:nvPr/>
        </p:nvSpPr>
        <p:spPr>
          <a:xfrm>
            <a:off x="4962525" y="4484191"/>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Đơn vị mình có nền để làm thật, không phải nói phong trào</a:t>
            </a:r>
            <a:endParaRPr lang="en-US" sz="1500" dirty="0"/>
          </a:p>
        </p:txBody>
      </p:sp>
      <p:sp>
        <p:nvSpPr>
          <p:cNvPr id="19" name="Text 17"/>
          <p:cNvSpPr/>
          <p:nvPr/>
        </p:nvSpPr>
        <p:spPr>
          <a:xfrm>
            <a:off x="4962525" y="5131891"/>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FPT Automotive công bố năng lực end-to-end cho SDV và từng thực hiện dự án full-stack IVI từ application layer đến Android framework và Vehicle HAL, hoàn thành sớm hơn kế hoạch một tháng.</a:t>
            </a:r>
            <a:endParaRPr lang="en-US" sz="110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498277"/>
            <a:ext cx="14629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Luận điểm trung tâm</a:t>
            </a:r>
            <a:endParaRPr lang="en-US" sz="960" dirty="0"/>
          </a:p>
        </p:txBody>
      </p:sp>
      <p:sp>
        <p:nvSpPr>
          <p:cNvPr id="3" name="Text 1"/>
          <p:cNvSpPr/>
          <p:nvPr/>
        </p:nvSpPr>
        <p:spPr>
          <a:xfrm>
            <a:off x="495300" y="1593056"/>
            <a:ext cx="2565350" cy="2508052"/>
          </a:xfrm>
          <a:prstGeom prst="roundRect">
            <a:avLst>
              <a:gd name="adj" fmla="val 8020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89250" y="1593056"/>
            <a:ext cx="2565350" cy="2508052"/>
          </a:xfrm>
          <a:prstGeom prst="roundRect">
            <a:avLst>
              <a:gd name="adj" fmla="val 8020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83201" y="1593056"/>
            <a:ext cx="2565499" cy="2508052"/>
          </a:xfrm>
          <a:prstGeom prst="roundRect">
            <a:avLst>
              <a:gd name="adj" fmla="val 8020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4329708"/>
            <a:ext cx="8153400" cy="1312069"/>
          </a:xfrm>
          <a:prstGeom prst="roundRect">
            <a:avLst>
              <a:gd name="adj" fmla="val 15332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7144"/>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Không phải câu chuyện cắt người, mà là nâng chuẩn đội ngũ</a:t>
            </a:r>
            <a:endParaRPr lang="en-US" sz="3600" dirty="0"/>
          </a:p>
        </p:txBody>
      </p:sp>
      <p:sp>
        <p:nvSpPr>
          <p:cNvPr id="8" name="Text 6"/>
          <p:cNvSpPr/>
          <p:nvPr/>
        </p:nvSpPr>
        <p:spPr>
          <a:xfrm>
            <a:off x="751396" y="1869281"/>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4F8CFF"/>
                </a:solidFill>
                <a:latin typeface="Inter" pitchFamily="34" charset="0"/>
                <a:ea typeface="Inter" pitchFamily="34" charset="-122"/>
                <a:cs typeface="Inter" pitchFamily="34" charset="-120"/>
              </a:rPr>
              <a:t>1</a:t>
            </a:r>
            <a:endParaRPr lang="en-US" sz="3600" dirty="0"/>
          </a:p>
        </p:txBody>
      </p:sp>
      <p:sp>
        <p:nvSpPr>
          <p:cNvPr id="9" name="Text 7"/>
          <p:cNvSpPr/>
          <p:nvPr/>
        </p:nvSpPr>
        <p:spPr>
          <a:xfrm>
            <a:off x="771525" y="2402681"/>
            <a:ext cx="2012900"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Từ coder sang orchestrator</a:t>
            </a:r>
            <a:endParaRPr lang="en-US" sz="1350" dirty="0"/>
          </a:p>
        </p:txBody>
      </p:sp>
      <p:sp>
        <p:nvSpPr>
          <p:cNvPr id="10" name="Text 8"/>
          <p:cNvSpPr/>
          <p:nvPr/>
        </p:nvSpPr>
        <p:spPr>
          <a:xfrm>
            <a:off x="771525" y="3012281"/>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Kỹ sư IVI cần biết giao việc cho agent, kiểm soát output, ráp vào kiến trúc thật và chịu trách nhiệm cuối cùng.</a:t>
            </a:r>
            <a:endParaRPr lang="en-US" sz="1104" dirty="0"/>
          </a:p>
        </p:txBody>
      </p:sp>
      <p:sp>
        <p:nvSpPr>
          <p:cNvPr id="11" name="Text 9"/>
          <p:cNvSpPr/>
          <p:nvPr/>
        </p:nvSpPr>
        <p:spPr>
          <a:xfrm>
            <a:off x="3545346" y="1869281"/>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00D2B8"/>
                </a:solidFill>
                <a:latin typeface="Inter" pitchFamily="34" charset="0"/>
                <a:ea typeface="Inter" pitchFamily="34" charset="-122"/>
                <a:cs typeface="Inter" pitchFamily="34" charset="-120"/>
              </a:rPr>
              <a:t>2</a:t>
            </a:r>
            <a:endParaRPr lang="en-US" sz="3600" dirty="0"/>
          </a:p>
        </p:txBody>
      </p:sp>
      <p:sp>
        <p:nvSpPr>
          <p:cNvPr id="12" name="Text 10"/>
          <p:cNvSpPr/>
          <p:nvPr/>
        </p:nvSpPr>
        <p:spPr>
          <a:xfrm>
            <a:off x="3565475" y="2402681"/>
            <a:ext cx="2012900"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Từ làm nhanh sang làm đúng</a:t>
            </a:r>
            <a:endParaRPr lang="en-US" sz="1350" dirty="0"/>
          </a:p>
        </p:txBody>
      </p:sp>
      <p:sp>
        <p:nvSpPr>
          <p:cNvPr id="13" name="Text 11"/>
          <p:cNvSpPr/>
          <p:nvPr/>
        </p:nvSpPr>
        <p:spPr>
          <a:xfrm>
            <a:off x="3565475" y="3012281"/>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Trong môi trường automotive, AI chỉ hữu ích khi đặc tả, traceability, test và compliance mạnh hơn trước.</a:t>
            </a:r>
            <a:endParaRPr lang="en-US" sz="1104" dirty="0"/>
          </a:p>
        </p:txBody>
      </p:sp>
      <p:sp>
        <p:nvSpPr>
          <p:cNvPr id="14" name="Text 12"/>
          <p:cNvSpPr/>
          <p:nvPr/>
        </p:nvSpPr>
        <p:spPr>
          <a:xfrm>
            <a:off x="6339295" y="1869281"/>
            <a:ext cx="2053310" cy="457200"/>
          </a:xfrm>
          <a:prstGeom prst="rect">
            <a:avLst/>
          </a:prstGeom>
          <a:noFill/>
          <a:ln/>
        </p:spPr>
        <p:txBody>
          <a:bodyPr wrap="square" lIns="0" tIns="0" rIns="0" bIns="0" rtlCol="0" anchor="t"/>
          <a:lstStyle/>
          <a:p>
            <a:pPr algn="ctr" indent="0" marL="0">
              <a:lnSpc>
                <a:spcPts val="3600"/>
              </a:lnSpc>
              <a:buNone/>
            </a:pPr>
            <a:r>
              <a:rPr lang="en-US" sz="3600" b="1" dirty="0">
                <a:solidFill>
                  <a:srgbClr val="9B7BFF"/>
                </a:solidFill>
                <a:latin typeface="Inter" pitchFamily="34" charset="0"/>
                <a:ea typeface="Inter" pitchFamily="34" charset="-122"/>
                <a:cs typeface="Inter" pitchFamily="34" charset="-120"/>
              </a:rPr>
              <a:t>3</a:t>
            </a:r>
            <a:endParaRPr lang="en-US" sz="3600" dirty="0"/>
          </a:p>
        </p:txBody>
      </p:sp>
      <p:sp>
        <p:nvSpPr>
          <p:cNvPr id="15" name="Text 13"/>
          <p:cNvSpPr/>
          <p:nvPr/>
        </p:nvSpPr>
        <p:spPr>
          <a:xfrm>
            <a:off x="6359426" y="2402681"/>
            <a:ext cx="2013049"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Từ năng lực cá nhân sang năng lực tổ chức</a:t>
            </a:r>
            <a:endParaRPr lang="en-US" sz="1350" dirty="0"/>
          </a:p>
        </p:txBody>
      </p:sp>
      <p:sp>
        <p:nvSpPr>
          <p:cNvPr id="16" name="Text 14"/>
          <p:cNvSpPr/>
          <p:nvPr/>
        </p:nvSpPr>
        <p:spPr>
          <a:xfrm>
            <a:off x="6359426" y="3012281"/>
            <a:ext cx="2013049"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Lợi thế sẽ không nằm ở vài cá nhân dùng AI giỏi, mà ở quy trình, tài sản tri thức và CoE dùng chung toàn đơn vị.</a:t>
            </a:r>
            <a:endParaRPr lang="en-US" sz="1104" dirty="0"/>
          </a:p>
        </p:txBody>
      </p:sp>
      <p:sp>
        <p:nvSpPr>
          <p:cNvPr id="17" name="Text 15"/>
          <p:cNvSpPr/>
          <p:nvPr/>
        </p:nvSpPr>
        <p:spPr>
          <a:xfrm>
            <a:off x="733425" y="4567833"/>
            <a:ext cx="7677150" cy="835819"/>
          </a:xfrm>
          <a:prstGeom prst="rect">
            <a:avLst/>
          </a:prstGeom>
          <a:noFill/>
          <a:ln/>
        </p:spPr>
        <p:txBody>
          <a:bodyPr wrap="square" lIns="0" tIns="0" rIns="0" bIns="0" rtlCol="0" anchor="t"/>
          <a:lstStyle/>
          <a:p>
            <a:pPr indent="0" marL="0">
              <a:lnSpc>
                <a:spcPts val="2194"/>
              </a:lnSpc>
              <a:buNone/>
            </a:pPr>
            <a:r>
              <a:rPr lang="en-US" sz="1350" dirty="0">
                <a:solidFill>
                  <a:srgbClr val="C8D4E8"/>
                </a:solidFill>
                <a:latin typeface="Inter" pitchFamily="34" charset="0"/>
                <a:ea typeface="Inter" pitchFamily="34" charset="-122"/>
                <a:cs typeface="Inter" pitchFamily="34" charset="-120"/>
              </a:rPr>
              <a:t>Thông điệp nội bộ cần thống nhất: AI không làm thay đội IVI. Việc của mình là tổ chức lại cách làm để kỹ sư lên vai trò cao hơn, lead quản được chất lượng tốt hơn và đơn vị tạo được năng suất bền vững hơn.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743099"/>
            <a:ext cx="805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Tác động</a:t>
            </a:r>
            <a:endParaRPr lang="en-US" sz="960" dirty="0"/>
          </a:p>
        </p:txBody>
      </p:sp>
      <p:sp>
        <p:nvSpPr>
          <p:cNvPr id="3" name="Text 1"/>
          <p:cNvSpPr/>
          <p:nvPr/>
        </p:nvSpPr>
        <p:spPr>
          <a:xfrm>
            <a:off x="495300" y="1386334"/>
            <a:ext cx="3962400" cy="3338215"/>
          </a:xfrm>
          <a:prstGeom prst="roundRect">
            <a:avLst>
              <a:gd name="adj" fmla="val 6026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1386334"/>
            <a:ext cx="3962400" cy="3338215"/>
          </a:xfrm>
          <a:prstGeom prst="roundRect">
            <a:avLst>
              <a:gd name="adj" fmla="val 6026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4953149"/>
            <a:ext cx="2590800" cy="933450"/>
          </a:xfrm>
          <a:prstGeom prst="roundRect">
            <a:avLst>
              <a:gd name="adj" fmla="val 21551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3276600" y="4953149"/>
            <a:ext cx="2590800" cy="933450"/>
          </a:xfrm>
          <a:prstGeom prst="roundRect">
            <a:avLst>
              <a:gd name="adj" fmla="val 21551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6057900" y="4953149"/>
            <a:ext cx="2590800" cy="933450"/>
          </a:xfrm>
          <a:prstGeom prst="roundRect">
            <a:avLst>
              <a:gd name="adj" fmla="val 21551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95300" y="-251966"/>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Dự án IVI sẽ đổi cách chạy như thế nào khi có nhiều AI Agent</a:t>
            </a:r>
            <a:endParaRPr lang="en-US" sz="3600" dirty="0"/>
          </a:p>
        </p:txBody>
      </p:sp>
      <p:sp>
        <p:nvSpPr>
          <p:cNvPr id="9" name="Text 7"/>
          <p:cNvSpPr/>
          <p:nvPr/>
        </p:nvSpPr>
        <p:spPr>
          <a:xfrm>
            <a:off x="771525" y="1662559"/>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AI Agent có thể hỗ trợ tốt</a:t>
            </a:r>
            <a:endParaRPr lang="en-US" sz="1500" dirty="0"/>
          </a:p>
        </p:txBody>
      </p:sp>
      <p:sp>
        <p:nvSpPr>
          <p:cNvPr id="10" name="Text 8"/>
          <p:cNvSpPr/>
          <p:nvPr/>
        </p:nvSpPr>
        <p:spPr>
          <a:xfrm>
            <a:off x="771525" y="2081659"/>
            <a:ext cx="3409950" cy="1876574"/>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Phân tích requirement, sinh draft user story, use case và trace matrix ban đầu.</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Gợi ý code, refactor, sinh unit test, tạo mock API, tài liệu kỹ thuật và onboarding note.</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Tạo test case từ yêu cầu hệ thống, hỗ trợ regression, log triage và tổng hợp lỗi lặp lại.</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Tìm kiếm tri thức dự án, chuẩn coding, guideline OEM, lesson learned theo ngữ cảnh.</a:t>
            </a:r>
            <a:endParaRPr lang="en-US" sz="1104" dirty="0"/>
          </a:p>
        </p:txBody>
      </p:sp>
      <p:sp>
        <p:nvSpPr>
          <p:cNvPr id="11" name="Text 9"/>
          <p:cNvSpPr/>
          <p:nvPr/>
        </p:nvSpPr>
        <p:spPr>
          <a:xfrm>
            <a:off x="4962525" y="1662559"/>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Con người vẫn phải giữ</a:t>
            </a:r>
            <a:endParaRPr lang="en-US" sz="1500" dirty="0"/>
          </a:p>
        </p:txBody>
      </p:sp>
      <p:sp>
        <p:nvSpPr>
          <p:cNvPr id="12" name="Text 10"/>
          <p:cNvSpPr/>
          <p:nvPr/>
        </p:nvSpPr>
        <p:spPr>
          <a:xfrm>
            <a:off x="4962525" y="2081659"/>
            <a:ext cx="3409950" cy="2282875"/>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Quyết định kiến trúc, boundary trách nhiệm, design trade-off và integration strategy.</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Đảm bảo functional safety, cybersecurity, chất lượng release và tuân thủ quy trình.</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Xử lý các bài toán HMI/UX gắn với bối cảnh lái xe, trải nghiệm vùng thị trường và hành vi người dùng.</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Chịu trách nhiệm cuối về chất lượng trước OEM/Tier-1, không giao mặc định niềm tin cho agent.</a:t>
            </a:r>
            <a:endParaRPr lang="en-US" sz="1104" dirty="0"/>
          </a:p>
        </p:txBody>
      </p:sp>
      <p:sp>
        <p:nvSpPr>
          <p:cNvPr id="13" name="Text 11"/>
          <p:cNvSpPr/>
          <p:nvPr/>
        </p:nvSpPr>
        <p:spPr>
          <a:xfrm>
            <a:off x="673418" y="5153174"/>
            <a:ext cx="2234565"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Thay đổi 1</a:t>
            </a:r>
            <a:endParaRPr lang="en-US" sz="1050" dirty="0"/>
          </a:p>
        </p:txBody>
      </p:sp>
      <p:sp>
        <p:nvSpPr>
          <p:cNvPr id="14" name="Text 12"/>
          <p:cNvSpPr/>
          <p:nvPr/>
        </p:nvSpPr>
        <p:spPr>
          <a:xfrm>
            <a:off x="673418" y="5419874"/>
            <a:ext cx="2234565" cy="266700"/>
          </a:xfrm>
          <a:prstGeom prst="rect">
            <a:avLst/>
          </a:prstGeom>
          <a:noFill/>
          <a:ln/>
        </p:spPr>
        <p:txBody>
          <a:bodyPr wrap="square" lIns="0" tIns="0" rIns="0" bIns="0" rtlCol="0" anchor="t"/>
          <a:lstStyle/>
          <a:p>
            <a:pPr algn="ctr" indent="0" marL="0">
              <a:lnSpc>
                <a:spcPts val="2100"/>
              </a:lnSpc>
              <a:buNone/>
            </a:pPr>
            <a:r>
              <a:rPr lang="en-US" sz="1500" b="1" dirty="0">
                <a:solidFill>
                  <a:srgbClr val="EEF4FF"/>
                </a:solidFill>
                <a:latin typeface="Inter" pitchFamily="34" charset="0"/>
                <a:ea typeface="Inter" pitchFamily="34" charset="-122"/>
                <a:cs typeface="Inter" pitchFamily="34" charset="-120"/>
              </a:rPr>
              <a:t>Ít thao tác lặp lại</a:t>
            </a:r>
            <a:endParaRPr lang="en-US" sz="1500" dirty="0"/>
          </a:p>
        </p:txBody>
      </p:sp>
      <p:sp>
        <p:nvSpPr>
          <p:cNvPr id="15" name="Text 13"/>
          <p:cNvSpPr/>
          <p:nvPr/>
        </p:nvSpPr>
        <p:spPr>
          <a:xfrm>
            <a:off x="3454717" y="5153174"/>
            <a:ext cx="2234565"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Thay đổi 2</a:t>
            </a:r>
            <a:endParaRPr lang="en-US" sz="1050" dirty="0"/>
          </a:p>
        </p:txBody>
      </p:sp>
      <p:sp>
        <p:nvSpPr>
          <p:cNvPr id="16" name="Text 14"/>
          <p:cNvSpPr/>
          <p:nvPr/>
        </p:nvSpPr>
        <p:spPr>
          <a:xfrm>
            <a:off x="3454717" y="5419874"/>
            <a:ext cx="2234565" cy="266700"/>
          </a:xfrm>
          <a:prstGeom prst="rect">
            <a:avLst/>
          </a:prstGeom>
          <a:noFill/>
          <a:ln/>
        </p:spPr>
        <p:txBody>
          <a:bodyPr wrap="square" lIns="0" tIns="0" rIns="0" bIns="0" rtlCol="0" anchor="t"/>
          <a:lstStyle/>
          <a:p>
            <a:pPr algn="ctr" indent="0" marL="0">
              <a:lnSpc>
                <a:spcPts val="2100"/>
              </a:lnSpc>
              <a:buNone/>
            </a:pPr>
            <a:r>
              <a:rPr lang="en-US" sz="1500" b="1" dirty="0">
                <a:solidFill>
                  <a:srgbClr val="EEF4FF"/>
                </a:solidFill>
                <a:latin typeface="Inter" pitchFamily="34" charset="0"/>
                <a:ea typeface="Inter" pitchFamily="34" charset="-122"/>
                <a:cs typeface="Inter" pitchFamily="34" charset="-120"/>
              </a:rPr>
              <a:t>Nhiều kiểm định hơn</a:t>
            </a:r>
            <a:endParaRPr lang="en-US" sz="1500" dirty="0"/>
          </a:p>
        </p:txBody>
      </p:sp>
      <p:sp>
        <p:nvSpPr>
          <p:cNvPr id="17" name="Text 15"/>
          <p:cNvSpPr/>
          <p:nvPr/>
        </p:nvSpPr>
        <p:spPr>
          <a:xfrm>
            <a:off x="6236018" y="5153174"/>
            <a:ext cx="2234565"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Thay đổi 3</a:t>
            </a:r>
            <a:endParaRPr lang="en-US" sz="1050" dirty="0"/>
          </a:p>
        </p:txBody>
      </p:sp>
      <p:sp>
        <p:nvSpPr>
          <p:cNvPr id="18" name="Text 16"/>
          <p:cNvSpPr/>
          <p:nvPr/>
        </p:nvSpPr>
        <p:spPr>
          <a:xfrm>
            <a:off x="6236018" y="5419874"/>
            <a:ext cx="2234565" cy="266700"/>
          </a:xfrm>
          <a:prstGeom prst="rect">
            <a:avLst/>
          </a:prstGeom>
          <a:noFill/>
          <a:ln/>
        </p:spPr>
        <p:txBody>
          <a:bodyPr wrap="square" lIns="0" tIns="0" rIns="0" bIns="0" rtlCol="0" anchor="t"/>
          <a:lstStyle/>
          <a:p>
            <a:pPr algn="ctr" indent="0" marL="0">
              <a:lnSpc>
                <a:spcPts val="2100"/>
              </a:lnSpc>
              <a:buNone/>
            </a:pPr>
            <a:r>
              <a:rPr lang="en-US" sz="1500" b="1" dirty="0">
                <a:solidFill>
                  <a:srgbClr val="EEF4FF"/>
                </a:solidFill>
                <a:latin typeface="Inter" pitchFamily="34" charset="0"/>
                <a:ea typeface="Inter" pitchFamily="34" charset="-122"/>
                <a:cs typeface="Inter" pitchFamily="34" charset="-120"/>
              </a:rPr>
              <a:t>Đòi hỏi domain sâu hơn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175617"/>
            <a:ext cx="16058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Khoảng trống hiện nay</a:t>
            </a:r>
            <a:endParaRPr lang="en-US" sz="960" dirty="0"/>
          </a:p>
        </p:txBody>
      </p:sp>
      <p:sp>
        <p:nvSpPr>
          <p:cNvPr id="3" name="Text 1"/>
          <p:cNvSpPr/>
          <p:nvPr/>
        </p:nvSpPr>
        <p:spPr>
          <a:xfrm>
            <a:off x="495300" y="1953816"/>
            <a:ext cx="1508671" cy="212705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2156371" y="1953816"/>
            <a:ext cx="1508820" cy="2127052"/>
          </a:xfrm>
          <a:prstGeom prst="roundRect">
            <a:avLst>
              <a:gd name="adj" fmla="val 13332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3817590" y="1953816"/>
            <a:ext cx="1508671" cy="212705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5478661" y="1953816"/>
            <a:ext cx="1508820" cy="2127052"/>
          </a:xfrm>
          <a:prstGeom prst="roundRect">
            <a:avLst>
              <a:gd name="adj" fmla="val 13332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7139880" y="1953816"/>
            <a:ext cx="1508671" cy="212705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95300" y="4309467"/>
            <a:ext cx="8153400" cy="1009650"/>
          </a:xfrm>
          <a:prstGeom prst="roundRect">
            <a:avLst>
              <a:gd name="adj" fmla="val 19924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315516"/>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5 khoảng trống nếu đơn vị muốn triển khai AI mà vẫn chạy dự án chắc</a:t>
            </a:r>
            <a:endParaRPr lang="en-US" sz="3600" dirty="0"/>
          </a:p>
        </p:txBody>
      </p:sp>
      <p:sp>
        <p:nvSpPr>
          <p:cNvPr id="10" name="Text 8"/>
          <p:cNvSpPr/>
          <p:nvPr/>
        </p:nvSpPr>
        <p:spPr>
          <a:xfrm>
            <a:off x="695325" y="2153841"/>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1" name="Text 9"/>
          <p:cNvSpPr/>
          <p:nvPr/>
        </p:nvSpPr>
        <p:spPr>
          <a:xfrm>
            <a:off x="695325" y="2534841"/>
            <a:ext cx="1108621"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Spec discipline</a:t>
            </a:r>
            <a:endParaRPr lang="en-US" sz="1200" dirty="0"/>
          </a:p>
        </p:txBody>
      </p:sp>
      <p:sp>
        <p:nvSpPr>
          <p:cNvPr id="12" name="Text 10"/>
          <p:cNvSpPr/>
          <p:nvPr/>
        </p:nvSpPr>
        <p:spPr>
          <a:xfrm>
            <a:off x="695325" y="3068241"/>
            <a:ext cx="1108621"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Requirement còn rời rạc, khó machine-readable.</a:t>
            </a:r>
            <a:endParaRPr lang="en-US" sz="1104" dirty="0"/>
          </a:p>
        </p:txBody>
      </p:sp>
      <p:sp>
        <p:nvSpPr>
          <p:cNvPr id="13" name="Text 11"/>
          <p:cNvSpPr/>
          <p:nvPr/>
        </p:nvSpPr>
        <p:spPr>
          <a:xfrm>
            <a:off x="2356396" y="2153841"/>
            <a:ext cx="1130945"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4" name="Text 12"/>
          <p:cNvSpPr/>
          <p:nvPr/>
        </p:nvSpPr>
        <p:spPr>
          <a:xfrm>
            <a:off x="2356396" y="2534841"/>
            <a:ext cx="1130945" cy="2286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Traceability</a:t>
            </a:r>
            <a:endParaRPr lang="en-US" sz="1200" dirty="0"/>
          </a:p>
        </p:txBody>
      </p:sp>
      <p:sp>
        <p:nvSpPr>
          <p:cNvPr id="15" name="Text 13"/>
          <p:cNvSpPr/>
          <p:nvPr/>
        </p:nvSpPr>
        <p:spPr>
          <a:xfrm>
            <a:off x="2356396" y="2839641"/>
            <a:ext cx="110877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Khó nối end-to-end từ yêu cầu đến test và release.</a:t>
            </a:r>
            <a:endParaRPr lang="en-US" sz="1104" dirty="0"/>
          </a:p>
        </p:txBody>
      </p:sp>
      <p:sp>
        <p:nvSpPr>
          <p:cNvPr id="16" name="Text 14"/>
          <p:cNvSpPr/>
          <p:nvPr/>
        </p:nvSpPr>
        <p:spPr>
          <a:xfrm>
            <a:off x="4017615" y="2153841"/>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7" name="Text 15"/>
          <p:cNvSpPr/>
          <p:nvPr/>
        </p:nvSpPr>
        <p:spPr>
          <a:xfrm>
            <a:off x="4017615" y="2534841"/>
            <a:ext cx="1108621"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Prompting theo domain</a:t>
            </a:r>
            <a:endParaRPr lang="en-US" sz="1200" dirty="0"/>
          </a:p>
        </p:txBody>
      </p:sp>
      <p:sp>
        <p:nvSpPr>
          <p:cNvPr id="18" name="Text 16"/>
          <p:cNvSpPr/>
          <p:nvPr/>
        </p:nvSpPr>
        <p:spPr>
          <a:xfrm>
            <a:off x="4017615" y="3068241"/>
            <a:ext cx="1108621"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Biết dùng AI chung, nhưng chưa giỏi cho Android/AAOS/HAL.</a:t>
            </a:r>
            <a:endParaRPr lang="en-US" sz="1104" dirty="0"/>
          </a:p>
        </p:txBody>
      </p:sp>
      <p:sp>
        <p:nvSpPr>
          <p:cNvPr id="19" name="Text 17"/>
          <p:cNvSpPr/>
          <p:nvPr/>
        </p:nvSpPr>
        <p:spPr>
          <a:xfrm>
            <a:off x="5678686" y="2153841"/>
            <a:ext cx="1130945"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0" name="Text 18"/>
          <p:cNvSpPr/>
          <p:nvPr/>
        </p:nvSpPr>
        <p:spPr>
          <a:xfrm>
            <a:off x="5678686" y="2534841"/>
            <a:ext cx="1130945" cy="2286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AI validation</a:t>
            </a:r>
            <a:endParaRPr lang="en-US" sz="1200" dirty="0"/>
          </a:p>
        </p:txBody>
      </p:sp>
      <p:sp>
        <p:nvSpPr>
          <p:cNvPr id="21" name="Text 19"/>
          <p:cNvSpPr/>
          <p:nvPr/>
        </p:nvSpPr>
        <p:spPr>
          <a:xfrm>
            <a:off x="5678686" y="2839641"/>
            <a:ext cx="110877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Thiếu chuẩn để đánh giá output của agent.</a:t>
            </a:r>
            <a:endParaRPr lang="en-US" sz="1104" dirty="0"/>
          </a:p>
        </p:txBody>
      </p:sp>
      <p:sp>
        <p:nvSpPr>
          <p:cNvPr id="22" name="Text 20"/>
          <p:cNvSpPr/>
          <p:nvPr/>
        </p:nvSpPr>
        <p:spPr>
          <a:xfrm>
            <a:off x="7339905" y="2153841"/>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3" name="Text 21"/>
          <p:cNvSpPr/>
          <p:nvPr/>
        </p:nvSpPr>
        <p:spPr>
          <a:xfrm>
            <a:off x="7339905" y="2534841"/>
            <a:ext cx="1130793" cy="2286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Governance</a:t>
            </a:r>
            <a:endParaRPr lang="en-US" sz="1200" dirty="0"/>
          </a:p>
        </p:txBody>
      </p:sp>
      <p:sp>
        <p:nvSpPr>
          <p:cNvPr id="24" name="Text 22"/>
          <p:cNvSpPr/>
          <p:nvPr/>
        </p:nvSpPr>
        <p:spPr>
          <a:xfrm>
            <a:off x="7339905" y="2839641"/>
            <a:ext cx="1108621"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Chưa rõ data nào được đưa vào AI, log nào phải lưu, ai phê duyệt.</a:t>
            </a:r>
            <a:endParaRPr lang="en-US" sz="1104" dirty="0"/>
          </a:p>
        </p:txBody>
      </p:sp>
      <p:sp>
        <p:nvSpPr>
          <p:cNvPr id="25" name="Text 23"/>
          <p:cNvSpPr/>
          <p:nvPr/>
        </p:nvSpPr>
        <p:spPr>
          <a:xfrm>
            <a:off x="733425" y="4547592"/>
            <a:ext cx="7677150" cy="533400"/>
          </a:xfrm>
          <a:prstGeom prst="rect">
            <a:avLst/>
          </a:prstGeom>
          <a:noFill/>
          <a:ln/>
        </p:spPr>
        <p:txBody>
          <a:bodyPr wrap="square" lIns="0" tIns="0" rIns="0" bIns="0" rtlCol="0" anchor="t"/>
          <a:lstStyle/>
          <a:p>
            <a:pPr indent="0" marL="0">
              <a:lnSpc>
                <a:spcPts val="2100"/>
              </a:lnSpc>
              <a:buNone/>
            </a:pPr>
            <a:r>
              <a:rPr lang="en-US" sz="1350" dirty="0">
                <a:solidFill>
                  <a:srgbClr val="C8D4E8"/>
                </a:solidFill>
                <a:latin typeface="Inter" pitchFamily="34" charset="0"/>
                <a:ea typeface="Inter" pitchFamily="34" charset="-122"/>
                <a:cs typeface="Inter" pitchFamily="34" charset="-120"/>
              </a:rPr>
              <a:t>Nếu không lấp 5 khoảng trống này, AI sẽ chỉ làm tăng tốc việc tạo ra nhiều output hơn, chứ không tăng tốc delivery đúng nghĩa.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820489"/>
            <a:ext cx="11962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Khung năng lực</a:t>
            </a:r>
            <a:endParaRPr lang="en-US" sz="960" dirty="0"/>
          </a:p>
        </p:txBody>
      </p:sp>
      <p:sp>
        <p:nvSpPr>
          <p:cNvPr id="3" name="Text 1"/>
          <p:cNvSpPr/>
          <p:nvPr/>
        </p:nvSpPr>
        <p:spPr>
          <a:xfrm>
            <a:off x="495300" y="585043"/>
            <a:ext cx="3962400" cy="2708523"/>
          </a:xfrm>
          <a:prstGeom prst="roundRect">
            <a:avLst>
              <a:gd name="adj" fmla="val 7427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585043"/>
            <a:ext cx="3962400" cy="2708523"/>
          </a:xfrm>
          <a:prstGeom prst="roundRect">
            <a:avLst>
              <a:gd name="adj" fmla="val 7427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522166"/>
            <a:ext cx="3962400" cy="2441823"/>
          </a:xfrm>
          <a:prstGeom prst="roundRect">
            <a:avLst>
              <a:gd name="adj" fmla="val 82384"/>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522166"/>
            <a:ext cx="3962400" cy="2441823"/>
          </a:xfrm>
          <a:prstGeom prst="roundRect">
            <a:avLst>
              <a:gd name="adj" fmla="val 82384"/>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329357"/>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Khung năng lực nhân sự IVI nên xây theo 4 lớp</a:t>
            </a:r>
            <a:endParaRPr lang="en-US" sz="3600" dirty="0"/>
          </a:p>
        </p:txBody>
      </p:sp>
      <p:sp>
        <p:nvSpPr>
          <p:cNvPr id="8" name="Text 6"/>
          <p:cNvSpPr/>
          <p:nvPr/>
        </p:nvSpPr>
        <p:spPr>
          <a:xfrm>
            <a:off x="771525" y="861268"/>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1 · Nền tảng bắt buộc</a:t>
            </a:r>
            <a:endParaRPr lang="en-US" sz="1500" dirty="0"/>
          </a:p>
        </p:txBody>
      </p:sp>
      <p:sp>
        <p:nvSpPr>
          <p:cNvPr id="9" name="Text 7"/>
          <p:cNvSpPr/>
          <p:nvPr/>
        </p:nvSpPr>
        <p:spPr>
          <a:xfrm>
            <a:off x="771525" y="1280368"/>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Android/AAOS, Linux embedded, C/C++/Java/Kotlin theo stack thực tế của đơn vị.</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Automotive basics: Vehicle HAL, CAN/Ethernet, OTA, cybersecurity và chất lượng phần mềm.</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Quy trình dự án, review discipline, ticket hygiene, tài liệu hóa đủ cho reuse.</a:t>
            </a:r>
            <a:endParaRPr lang="en-US" sz="1104" dirty="0"/>
          </a:p>
        </p:txBody>
      </p:sp>
      <p:sp>
        <p:nvSpPr>
          <p:cNvPr id="10" name="Text 8"/>
          <p:cNvSpPr/>
          <p:nvPr/>
        </p:nvSpPr>
        <p:spPr>
          <a:xfrm>
            <a:off x="4962525" y="861268"/>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2 · Năng lực làm việc với AI Agent</a:t>
            </a:r>
            <a:endParaRPr lang="en-US" sz="1500" dirty="0"/>
          </a:p>
        </p:txBody>
      </p:sp>
      <p:sp>
        <p:nvSpPr>
          <p:cNvPr id="11" name="Text 9"/>
          <p:cNvSpPr/>
          <p:nvPr/>
        </p:nvSpPr>
        <p:spPr>
          <a:xfrm>
            <a:off x="4962525" y="1547068"/>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Prompt engineering theo ngữ cảnh IVI: requirement, code, debug, test, doc.</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Context curation: biết đưa đúng tài liệu, log, API contract, guideline OEM vào agent.</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Output verification: đối chiếu logic, hiệu năng, bảo mật, coding standard và edge case.</a:t>
            </a:r>
            <a:endParaRPr lang="en-US" sz="1104" dirty="0"/>
          </a:p>
        </p:txBody>
      </p:sp>
      <p:sp>
        <p:nvSpPr>
          <p:cNvPr id="12" name="Text 10"/>
          <p:cNvSpPr/>
          <p:nvPr/>
        </p:nvSpPr>
        <p:spPr>
          <a:xfrm>
            <a:off x="771525" y="37983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3 · Kỹ năng hệ thống</a:t>
            </a:r>
            <a:endParaRPr lang="en-US" sz="1500" dirty="0"/>
          </a:p>
        </p:txBody>
      </p:sp>
      <p:sp>
        <p:nvSpPr>
          <p:cNvPr id="13" name="Text 11"/>
          <p:cNvSpPr/>
          <p:nvPr/>
        </p:nvSpPr>
        <p:spPr>
          <a:xfrm>
            <a:off x="771525" y="4217491"/>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System thinking, interface design, dependency management và root cause analysis.</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Spec-driven development, traceability, testability và release readiness.</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Làm việc xuyên team với cloud, mobile, HMI, validation và PM.</a:t>
            </a:r>
            <a:endParaRPr lang="en-US" sz="1104" dirty="0"/>
          </a:p>
        </p:txBody>
      </p:sp>
      <p:sp>
        <p:nvSpPr>
          <p:cNvPr id="14" name="Text 12"/>
          <p:cNvSpPr/>
          <p:nvPr/>
        </p:nvSpPr>
        <p:spPr>
          <a:xfrm>
            <a:off x="4962525" y="37983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Lớp 4 · Lãnh đạo kỹ thuật mới</a:t>
            </a:r>
            <a:endParaRPr lang="en-US" sz="1500" dirty="0"/>
          </a:p>
        </p:txBody>
      </p:sp>
      <p:sp>
        <p:nvSpPr>
          <p:cNvPr id="15" name="Text 13"/>
          <p:cNvSpPr/>
          <p:nvPr/>
        </p:nvSpPr>
        <p:spPr>
          <a:xfrm>
            <a:off x="4962525" y="4217491"/>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Biến bài toán delivery thành workflow có AI hỗ trợ nhưng vẫn audit được.</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Xây asset dùng chung: template, checklist, test accelerators, RAG knowledge base.</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Huấn luyện đội ngũ, đo ROI và quản lý rủi ro AI trong dự án thật.</a:t>
            </a:r>
            <a:endParaRPr lang="en-US" sz="110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3973860" y="1027063"/>
            <a:ext cx="11962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ctr" indent="0" marL="0">
              <a:buNone/>
            </a:pPr>
            <a:r>
              <a:rPr lang="en-US" sz="960" dirty="0">
                <a:solidFill>
                  <a:srgbClr val="C8D4E8"/>
                </a:solidFill>
                <a:latin typeface="Inter" pitchFamily="34" charset="0"/>
                <a:ea typeface="Inter" pitchFamily="34" charset="-122"/>
                <a:cs typeface="Inter" pitchFamily="34" charset="-120"/>
              </a:rPr>
              <a:t>Thiết kế tổ chức</a:t>
            </a:r>
            <a:endParaRPr lang="en-US" sz="960" dirty="0"/>
          </a:p>
        </p:txBody>
      </p:sp>
      <p:sp>
        <p:nvSpPr>
          <p:cNvPr id="3" name="Text 1"/>
          <p:cNvSpPr/>
          <p:nvPr/>
        </p:nvSpPr>
        <p:spPr>
          <a:xfrm>
            <a:off x="495300" y="1518196"/>
            <a:ext cx="8153400" cy="1645741"/>
          </a:xfrm>
          <a:prstGeom prst="rect">
            <a:avLst/>
          </a:prstGeom>
          <a:noFill/>
          <a:ln/>
        </p:spPr>
        <p:txBody>
          <a:bodyPr wrap="square" lIns="0" tIns="0" rIns="0" bIns="0" rtlCol="0" anchor="t"/>
          <a:lstStyle/>
          <a:p>
            <a:pPr algn="ctr" indent="0" marL="0">
              <a:lnSpc>
                <a:spcPts val="6480"/>
              </a:lnSpc>
              <a:buNone/>
            </a:pPr>
            <a:r>
              <a:rPr lang="en-US" sz="4320" b="1" dirty="0">
                <a:solidFill>
                  <a:srgbClr val="EEF4FF"/>
                </a:solidFill>
                <a:latin typeface="Instrument Serif" pitchFamily="34" charset="0"/>
                <a:ea typeface="Instrument Serif" pitchFamily="34" charset="-122"/>
                <a:cs typeface="Instrument Serif" pitchFamily="34" charset="-120"/>
              </a:rPr>
              <a:t>Nên chuyển từ tư duy cấp người sang tư duy xây năng lực đơn vị</a:t>
            </a:r>
            <a:endParaRPr lang="en-US" sz="4320" dirty="0"/>
          </a:p>
        </p:txBody>
      </p:sp>
      <p:sp>
        <p:nvSpPr>
          <p:cNvPr id="4" name="Text 2"/>
          <p:cNvSpPr/>
          <p:nvPr/>
        </p:nvSpPr>
        <p:spPr>
          <a:xfrm>
            <a:off x="495300" y="3316337"/>
            <a:ext cx="8153400" cy="800100"/>
          </a:xfrm>
          <a:prstGeom prst="rect">
            <a:avLst/>
          </a:prstGeom>
          <a:noFill/>
          <a:ln/>
        </p:spPr>
        <p:txBody>
          <a:bodyPr wrap="square" lIns="0" tIns="0" rIns="0" bIns="0" rtlCol="0" anchor="t"/>
          <a:lstStyle/>
          <a:p>
            <a:pPr algn="ctr" indent="0" marL="0">
              <a:lnSpc>
                <a:spcPts val="2100"/>
              </a:lnSpc>
              <a:buNone/>
            </a:pPr>
            <a:r>
              <a:rPr lang="en-US" sz="1500" dirty="0">
                <a:solidFill>
                  <a:srgbClr val="C8D4E8"/>
                </a:solidFill>
                <a:latin typeface="Inter" pitchFamily="34" charset="0"/>
                <a:ea typeface="Inter" pitchFamily="34" charset="-122"/>
                <a:cs typeface="Inter" pitchFamily="34" charset="-120"/>
              </a:rPr>
              <a:t>Nếu chỉ bổ người theo demand từng dự án thì mỗi team sẽ tự mò cách dùng AI và chất lượng không đồng đều. Đơn vị cần đứng ra chuẩn hóa cách làm, nhân tài sản dùng chung và kéo mặt bằng đội ngũ lên cùng nhau.</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664518"/>
            <a:ext cx="1186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Cơ cấu nhân sự</a:t>
            </a:r>
            <a:endParaRPr lang="en-US" sz="960" dirty="0"/>
          </a:p>
        </p:txBody>
      </p:sp>
      <p:sp>
        <p:nvSpPr>
          <p:cNvPr id="3" name="Text 1"/>
          <p:cNvSpPr/>
          <p:nvPr/>
        </p:nvSpPr>
        <p:spPr>
          <a:xfrm>
            <a:off x="495300" y="1464915"/>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76600" y="1464915"/>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57900" y="1464915"/>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3731716"/>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3276600" y="3731716"/>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6057900" y="3731716"/>
            <a:ext cx="2590800" cy="2076301"/>
          </a:xfrm>
          <a:prstGeom prst="roundRect">
            <a:avLst>
              <a:gd name="adj" fmla="val 9688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173385"/>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Một số vai trò nên hình thành rõ hơn trong cơ cấu vận hành IVI</a:t>
            </a:r>
            <a:endParaRPr lang="en-US" sz="3600" dirty="0"/>
          </a:p>
        </p:txBody>
      </p:sp>
      <p:sp>
        <p:nvSpPr>
          <p:cNvPr id="10" name="Text 8"/>
          <p:cNvSpPr/>
          <p:nvPr/>
        </p:nvSpPr>
        <p:spPr>
          <a:xfrm>
            <a:off x="733425" y="17030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1" name="Text 9"/>
          <p:cNvSpPr/>
          <p:nvPr/>
        </p:nvSpPr>
        <p:spPr>
          <a:xfrm>
            <a:off x="733425" y="2084040"/>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IVI Domain Architect</a:t>
            </a:r>
            <a:endParaRPr lang="en-US" sz="1350" dirty="0"/>
          </a:p>
        </p:txBody>
      </p:sp>
      <p:sp>
        <p:nvSpPr>
          <p:cNvPr id="12" name="Text 10"/>
          <p:cNvSpPr/>
          <p:nvPr/>
        </p:nvSpPr>
        <p:spPr>
          <a:xfrm>
            <a:off x="733425" y="2426940"/>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Giữ kiến trúc chuẩn cho HMI, AAOS, middleware, integration và non-functional requirements.</a:t>
            </a:r>
            <a:endParaRPr lang="en-US" sz="1104" dirty="0"/>
          </a:p>
        </p:txBody>
      </p:sp>
      <p:sp>
        <p:nvSpPr>
          <p:cNvPr id="13" name="Text 11"/>
          <p:cNvSpPr/>
          <p:nvPr/>
        </p:nvSpPr>
        <p:spPr>
          <a:xfrm>
            <a:off x="3514725" y="17030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4" name="Text 12"/>
          <p:cNvSpPr/>
          <p:nvPr/>
        </p:nvSpPr>
        <p:spPr>
          <a:xfrm>
            <a:off x="3514725" y="2084040"/>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AI Workflow Engineer</a:t>
            </a:r>
            <a:endParaRPr lang="en-US" sz="1350" dirty="0"/>
          </a:p>
        </p:txBody>
      </p:sp>
      <p:sp>
        <p:nvSpPr>
          <p:cNvPr id="15" name="Text 13"/>
          <p:cNvSpPr/>
          <p:nvPr/>
        </p:nvSpPr>
        <p:spPr>
          <a:xfrm>
            <a:off x="3514725" y="2426940"/>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Thiết kế prompt pack, RAG source, reusable workflow cho code/test/doc và đo hiệu quả.</a:t>
            </a:r>
            <a:endParaRPr lang="en-US" sz="1104" dirty="0"/>
          </a:p>
        </p:txBody>
      </p:sp>
      <p:sp>
        <p:nvSpPr>
          <p:cNvPr id="16" name="Text 14"/>
          <p:cNvSpPr/>
          <p:nvPr/>
        </p:nvSpPr>
        <p:spPr>
          <a:xfrm>
            <a:off x="6296025" y="17030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7" name="Text 15"/>
          <p:cNvSpPr/>
          <p:nvPr/>
        </p:nvSpPr>
        <p:spPr>
          <a:xfrm>
            <a:off x="6296025" y="2084040"/>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AI Quality &amp; Compliance Lead</a:t>
            </a:r>
            <a:endParaRPr lang="en-US" sz="1350" dirty="0"/>
          </a:p>
        </p:txBody>
      </p:sp>
      <p:sp>
        <p:nvSpPr>
          <p:cNvPr id="18" name="Text 16"/>
          <p:cNvSpPr/>
          <p:nvPr/>
        </p:nvSpPr>
        <p:spPr>
          <a:xfrm>
            <a:off x="6296025" y="2693640"/>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Định nghĩa hàng rào cho data, validation, traceability, security và audit log.</a:t>
            </a:r>
            <a:endParaRPr lang="en-US" sz="1104" dirty="0"/>
          </a:p>
        </p:txBody>
      </p:sp>
      <p:sp>
        <p:nvSpPr>
          <p:cNvPr id="19" name="Text 17"/>
          <p:cNvSpPr/>
          <p:nvPr/>
        </p:nvSpPr>
        <p:spPr>
          <a:xfrm>
            <a:off x="733425" y="396984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0" name="Text 18"/>
          <p:cNvSpPr/>
          <p:nvPr/>
        </p:nvSpPr>
        <p:spPr>
          <a:xfrm>
            <a:off x="733425" y="4350841"/>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Knowledge Curator</a:t>
            </a:r>
            <a:endParaRPr lang="en-US" sz="1350" dirty="0"/>
          </a:p>
        </p:txBody>
      </p:sp>
      <p:sp>
        <p:nvSpPr>
          <p:cNvPr id="21" name="Text 19"/>
          <p:cNvSpPr/>
          <p:nvPr/>
        </p:nvSpPr>
        <p:spPr>
          <a:xfrm>
            <a:off x="733425" y="4693741"/>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Biến guideline, lesson learned, code pattern và OEM convention thành knowledge asset sống.</a:t>
            </a:r>
            <a:endParaRPr lang="en-US" sz="1104" dirty="0"/>
          </a:p>
        </p:txBody>
      </p:sp>
      <p:sp>
        <p:nvSpPr>
          <p:cNvPr id="22" name="Text 20"/>
          <p:cNvSpPr/>
          <p:nvPr/>
        </p:nvSpPr>
        <p:spPr>
          <a:xfrm>
            <a:off x="3514725" y="396984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3" name="Text 21"/>
          <p:cNvSpPr/>
          <p:nvPr/>
        </p:nvSpPr>
        <p:spPr>
          <a:xfrm>
            <a:off x="3514725" y="4350841"/>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Test Automation Champion</a:t>
            </a:r>
            <a:endParaRPr lang="en-US" sz="1350" dirty="0"/>
          </a:p>
        </p:txBody>
      </p:sp>
      <p:sp>
        <p:nvSpPr>
          <p:cNvPr id="24" name="Text 22"/>
          <p:cNvSpPr/>
          <p:nvPr/>
        </p:nvSpPr>
        <p:spPr>
          <a:xfrm>
            <a:off x="3514725" y="4960441"/>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Gắn AI với regression, scenario generation, defect triage và test data chuẩn hóa.</a:t>
            </a:r>
            <a:endParaRPr lang="en-US" sz="1104" dirty="0"/>
          </a:p>
        </p:txBody>
      </p:sp>
      <p:sp>
        <p:nvSpPr>
          <p:cNvPr id="25" name="Text 23"/>
          <p:cNvSpPr/>
          <p:nvPr/>
        </p:nvSpPr>
        <p:spPr>
          <a:xfrm>
            <a:off x="6296025" y="396984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6" name="Text 24"/>
          <p:cNvSpPr/>
          <p:nvPr/>
        </p:nvSpPr>
        <p:spPr>
          <a:xfrm>
            <a:off x="6296025" y="4350841"/>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People Coach / Tech Lead</a:t>
            </a:r>
            <a:endParaRPr lang="en-US" sz="1350" dirty="0"/>
          </a:p>
        </p:txBody>
      </p:sp>
      <p:sp>
        <p:nvSpPr>
          <p:cNvPr id="27" name="Text 25"/>
          <p:cNvSpPr/>
          <p:nvPr/>
        </p:nvSpPr>
        <p:spPr>
          <a:xfrm>
            <a:off x="6296025" y="4960441"/>
            <a:ext cx="21145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Kèm cặp kỹ sư trẻ đi từ dùng tool sang làm chủ bài toán, giảm lệ thuộc vào cá nhân giỏi.</a:t>
            </a:r>
            <a:endParaRPr lang="en-US" sz="110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578793"/>
            <a:ext cx="13391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Roadmap 12 tháng</a:t>
            </a:r>
            <a:endParaRPr lang="en-US" sz="960" dirty="0"/>
          </a:p>
        </p:txBody>
      </p:sp>
      <p:sp>
        <p:nvSpPr>
          <p:cNvPr id="3" name="Text 1"/>
          <p:cNvSpPr/>
          <p:nvPr/>
        </p:nvSpPr>
        <p:spPr>
          <a:xfrm>
            <a:off x="876300" y="864840"/>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561975" y="1198215"/>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876300" y="2547491"/>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561975" y="2880866"/>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876300" y="4230142"/>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561975" y="4563517"/>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495300" y="-87660"/>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Lộ trình 12 tháng để triển khai trong đơn vị IVI</a:t>
            </a:r>
            <a:endParaRPr lang="en-US" sz="3600" dirty="0"/>
          </a:p>
        </p:txBody>
      </p:sp>
      <p:sp>
        <p:nvSpPr>
          <p:cNvPr id="10" name="Text 8"/>
          <p:cNvSpPr/>
          <p:nvPr/>
        </p:nvSpPr>
        <p:spPr>
          <a:xfrm>
            <a:off x="1114425" y="1102965"/>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0–3 tháng</a:t>
            </a:r>
            <a:endParaRPr lang="en-US" sz="1050" dirty="0"/>
          </a:p>
        </p:txBody>
      </p:sp>
      <p:sp>
        <p:nvSpPr>
          <p:cNvPr id="11" name="Text 9"/>
          <p:cNvSpPr/>
          <p:nvPr/>
        </p:nvSpPr>
        <p:spPr>
          <a:xfrm>
            <a:off x="1114425" y="1369665"/>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Làm chuẩn nền móng</a:t>
            </a:r>
            <a:endParaRPr lang="en-US" sz="1500" dirty="0"/>
          </a:p>
        </p:txBody>
      </p:sp>
      <p:sp>
        <p:nvSpPr>
          <p:cNvPr id="12" name="Text 10"/>
          <p:cNvSpPr/>
          <p:nvPr/>
        </p:nvSpPr>
        <p:spPr>
          <a:xfrm>
            <a:off x="1114425" y="1712565"/>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Chốt 10–15 use case AI có giá trị thật cho IVI; thống nhất rule dữ liệu; chuẩn hóa template requirement, design note, code review, test case và defect triage để team nào cũng dùng được.</a:t>
            </a:r>
            <a:endParaRPr lang="en-US" sz="1104" dirty="0"/>
          </a:p>
        </p:txBody>
      </p:sp>
      <p:sp>
        <p:nvSpPr>
          <p:cNvPr id="13" name="Text 11"/>
          <p:cNvSpPr/>
          <p:nvPr/>
        </p:nvSpPr>
        <p:spPr>
          <a:xfrm>
            <a:off x="1114425" y="2785616"/>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3–6 tháng</a:t>
            </a:r>
            <a:endParaRPr lang="en-US" sz="1050" dirty="0"/>
          </a:p>
        </p:txBody>
      </p:sp>
      <p:sp>
        <p:nvSpPr>
          <p:cNvPr id="14" name="Text 12"/>
          <p:cNvSpPr/>
          <p:nvPr/>
        </p:nvSpPr>
        <p:spPr>
          <a:xfrm>
            <a:off x="1114425" y="3052316"/>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Pilot theo team/squad</a:t>
            </a:r>
            <a:endParaRPr lang="en-US" sz="1500" dirty="0"/>
          </a:p>
        </p:txBody>
      </p:sp>
      <p:sp>
        <p:nvSpPr>
          <p:cNvPr id="15" name="Text 13"/>
          <p:cNvSpPr/>
          <p:nvPr/>
        </p:nvSpPr>
        <p:spPr>
          <a:xfrm>
            <a:off x="1114425" y="3395216"/>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Chọn 2–3 team pilot đại diện cho app/HMI, platform/integration và validation; đo lead time, defect leakage, effort documentation và tốc độ onboard để có số liệu nói chuyện với lãnh đạo.</a:t>
            </a:r>
            <a:endParaRPr lang="en-US" sz="1104" dirty="0"/>
          </a:p>
        </p:txBody>
      </p:sp>
      <p:sp>
        <p:nvSpPr>
          <p:cNvPr id="16" name="Text 14"/>
          <p:cNvSpPr/>
          <p:nvPr/>
        </p:nvSpPr>
        <p:spPr>
          <a:xfrm>
            <a:off x="1114425" y="4468267"/>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6–12 tháng</a:t>
            </a:r>
            <a:endParaRPr lang="en-US" sz="1050" dirty="0"/>
          </a:p>
        </p:txBody>
      </p:sp>
      <p:sp>
        <p:nvSpPr>
          <p:cNvPr id="17" name="Text 15"/>
          <p:cNvSpPr/>
          <p:nvPr/>
        </p:nvSpPr>
        <p:spPr>
          <a:xfrm>
            <a:off x="1114425" y="4734967"/>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Chuẩn hóa và nhân rộng toàn đơn vị</a:t>
            </a:r>
            <a:endParaRPr lang="en-US" sz="1500" dirty="0"/>
          </a:p>
        </p:txBody>
      </p:sp>
      <p:sp>
        <p:nvSpPr>
          <p:cNvPr id="18" name="Text 16"/>
          <p:cNvSpPr/>
          <p:nvPr/>
        </p:nvSpPr>
        <p:spPr>
          <a:xfrm>
            <a:off x="1114425" y="5077867"/>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Workflow nào chứng minh hiệu quả thì đưa vào cách làm chuẩn của đơn vị; đồng thời xây knowledge base nội bộ, hình thành nhóm nòng cốt AI/SDV và gắn KPI năng lực với lead, PM, architect.</a:t>
            </a:r>
            <a:endParaRPr lang="en-US" sz="110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213568"/>
            <a:ext cx="151060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Chương trình đào tạo</a:t>
            </a:r>
            <a:endParaRPr lang="en-US" sz="960" dirty="0"/>
          </a:p>
        </p:txBody>
      </p:sp>
      <p:sp>
        <p:nvSpPr>
          <p:cNvPr id="3" name="Text 1"/>
          <p:cNvSpPr/>
          <p:nvPr/>
        </p:nvSpPr>
        <p:spPr>
          <a:xfrm>
            <a:off x="495300" y="1915864"/>
            <a:ext cx="2565350"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89250" y="1915864"/>
            <a:ext cx="2565350"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83201" y="1915864"/>
            <a:ext cx="2565499"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nền cho fresher/junior</a:t>
            </a:r>
            <a:endParaRPr lang="en-US" sz="1104" dirty="0"/>
          </a:p>
        </p:txBody>
      </p:sp>
      <p:sp>
        <p:nvSpPr>
          <p:cNvPr id="7" name="Text 5"/>
          <p:cNvSpPr/>
          <p:nvPr/>
        </p:nvSpPr>
        <p:spPr>
          <a:xfrm>
            <a:off x="257175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nâng chuẩn cho mid-level</a:t>
            </a:r>
            <a:endParaRPr lang="en-US" sz="1104" dirty="0"/>
          </a:p>
        </p:txBody>
      </p:sp>
      <p:sp>
        <p:nvSpPr>
          <p:cNvPr id="8" name="Text 6"/>
          <p:cNvSpPr/>
          <p:nvPr/>
        </p:nvSpPr>
        <p:spPr>
          <a:xfrm>
            <a:off x="464820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dẫn dắt cho senior/architect</a:t>
            </a:r>
            <a:endParaRPr lang="en-US" sz="1104" dirty="0"/>
          </a:p>
        </p:txBody>
      </p:sp>
      <p:sp>
        <p:nvSpPr>
          <p:cNvPr id="9" name="Text 7"/>
          <p:cNvSpPr/>
          <p:nvPr/>
        </p:nvSpPr>
        <p:spPr>
          <a:xfrm>
            <a:off x="672465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quản trị cho lead/PM</a:t>
            </a:r>
            <a:endParaRPr lang="en-US" sz="1104" dirty="0"/>
          </a:p>
        </p:txBody>
      </p:sp>
      <p:sp>
        <p:nvSpPr>
          <p:cNvPr id="10" name="Text 8"/>
          <p:cNvSpPr/>
          <p:nvPr/>
        </p:nvSpPr>
        <p:spPr>
          <a:xfrm>
            <a:off x="495300" y="277564"/>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Cách làm People/L&amp;D nên bám vận hành thay vì chỉ mở lớp</a:t>
            </a:r>
            <a:endParaRPr lang="en-US" sz="3600" dirty="0"/>
          </a:p>
        </p:txBody>
      </p:sp>
      <p:sp>
        <p:nvSpPr>
          <p:cNvPr id="11" name="Text 9"/>
          <p:cNvSpPr/>
          <p:nvPr/>
        </p:nvSpPr>
        <p:spPr>
          <a:xfrm>
            <a:off x="751396" y="2192089"/>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4F8CFF"/>
                </a:solidFill>
                <a:latin typeface="Inter" pitchFamily="34" charset="0"/>
                <a:ea typeface="Inter" pitchFamily="34" charset="-122"/>
                <a:cs typeface="Inter" pitchFamily="34" charset="-120"/>
              </a:rPr>
              <a:t>70%</a:t>
            </a:r>
            <a:endParaRPr lang="en-US" sz="3600" dirty="0"/>
          </a:p>
        </p:txBody>
      </p:sp>
      <p:sp>
        <p:nvSpPr>
          <p:cNvPr id="12" name="Text 10"/>
          <p:cNvSpPr/>
          <p:nvPr/>
        </p:nvSpPr>
        <p:spPr>
          <a:xfrm>
            <a:off x="751396" y="2725489"/>
            <a:ext cx="2053158"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On-the-job</a:t>
            </a:r>
            <a:endParaRPr lang="en-US" sz="1350" dirty="0"/>
          </a:p>
        </p:txBody>
      </p:sp>
      <p:sp>
        <p:nvSpPr>
          <p:cNvPr id="13" name="Text 11"/>
          <p:cNvSpPr/>
          <p:nvPr/>
        </p:nvSpPr>
        <p:spPr>
          <a:xfrm>
            <a:off x="771525" y="3106489"/>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Học trên dự án thật: prompt pack, AI-assisted debug, test generation, review checklist, retrospectives theo use case.</a:t>
            </a:r>
            <a:endParaRPr lang="en-US" sz="1104" dirty="0"/>
          </a:p>
        </p:txBody>
      </p:sp>
      <p:sp>
        <p:nvSpPr>
          <p:cNvPr id="14" name="Text 12"/>
          <p:cNvSpPr/>
          <p:nvPr/>
        </p:nvSpPr>
        <p:spPr>
          <a:xfrm>
            <a:off x="3545346" y="2192089"/>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00D2B8"/>
                </a:solidFill>
                <a:latin typeface="Inter" pitchFamily="34" charset="0"/>
                <a:ea typeface="Inter" pitchFamily="34" charset="-122"/>
                <a:cs typeface="Inter" pitchFamily="34" charset="-120"/>
              </a:rPr>
              <a:t>20%</a:t>
            </a:r>
            <a:endParaRPr lang="en-US" sz="3600" dirty="0"/>
          </a:p>
        </p:txBody>
      </p:sp>
      <p:sp>
        <p:nvSpPr>
          <p:cNvPr id="15" name="Text 13"/>
          <p:cNvSpPr/>
          <p:nvPr/>
        </p:nvSpPr>
        <p:spPr>
          <a:xfrm>
            <a:off x="3545346" y="2725489"/>
            <a:ext cx="2053158"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Coaching</a:t>
            </a:r>
            <a:endParaRPr lang="en-US" sz="1350" dirty="0"/>
          </a:p>
        </p:txBody>
      </p:sp>
      <p:sp>
        <p:nvSpPr>
          <p:cNvPr id="16" name="Text 14"/>
          <p:cNvSpPr/>
          <p:nvPr/>
        </p:nvSpPr>
        <p:spPr>
          <a:xfrm>
            <a:off x="3565475" y="3106489"/>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Architect, tech lead, QA lead kèm cặp qua pair review, brown bag session, office hour và cộng đồng thực hành.</a:t>
            </a:r>
            <a:endParaRPr lang="en-US" sz="1104" dirty="0"/>
          </a:p>
        </p:txBody>
      </p:sp>
      <p:sp>
        <p:nvSpPr>
          <p:cNvPr id="17" name="Text 15"/>
          <p:cNvSpPr/>
          <p:nvPr/>
        </p:nvSpPr>
        <p:spPr>
          <a:xfrm>
            <a:off x="6339295" y="2192089"/>
            <a:ext cx="2053310" cy="457200"/>
          </a:xfrm>
          <a:prstGeom prst="rect">
            <a:avLst/>
          </a:prstGeom>
          <a:noFill/>
          <a:ln/>
        </p:spPr>
        <p:txBody>
          <a:bodyPr wrap="square" lIns="0" tIns="0" rIns="0" bIns="0" rtlCol="0" anchor="t"/>
          <a:lstStyle/>
          <a:p>
            <a:pPr algn="ctr" indent="0" marL="0">
              <a:lnSpc>
                <a:spcPts val="3600"/>
              </a:lnSpc>
              <a:buNone/>
            </a:pPr>
            <a:r>
              <a:rPr lang="en-US" sz="3600" b="1" dirty="0">
                <a:solidFill>
                  <a:srgbClr val="9B7BFF"/>
                </a:solidFill>
                <a:latin typeface="Inter" pitchFamily="34" charset="0"/>
                <a:ea typeface="Inter" pitchFamily="34" charset="-122"/>
                <a:cs typeface="Inter" pitchFamily="34" charset="-120"/>
              </a:rPr>
              <a:t>10%</a:t>
            </a:r>
            <a:endParaRPr lang="en-US" sz="3600" dirty="0"/>
          </a:p>
        </p:txBody>
      </p:sp>
      <p:sp>
        <p:nvSpPr>
          <p:cNvPr id="18" name="Text 16"/>
          <p:cNvSpPr/>
          <p:nvPr/>
        </p:nvSpPr>
        <p:spPr>
          <a:xfrm>
            <a:off x="6339295" y="2725489"/>
            <a:ext cx="2053310"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Formal learning</a:t>
            </a:r>
            <a:endParaRPr lang="en-US" sz="1350" dirty="0"/>
          </a:p>
        </p:txBody>
      </p:sp>
      <p:sp>
        <p:nvSpPr>
          <p:cNvPr id="19" name="Text 17"/>
          <p:cNvSpPr/>
          <p:nvPr/>
        </p:nvSpPr>
        <p:spPr>
          <a:xfrm>
            <a:off x="6359426" y="3106489"/>
            <a:ext cx="2013049" cy="101575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Khoá ngắn theo track: AAOS + HAL, test automation, AI workflow, spec-driven development, cybersecurity và compliance.</a:t>
            </a:r>
            <a:endParaRPr lang="en-US" sz="110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382042"/>
            <a:ext cx="1186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KPI đo hiệu quả</a:t>
            </a:r>
            <a:endParaRPr lang="en-US" sz="960" dirty="0"/>
          </a:p>
        </p:txBody>
      </p:sp>
      <p:sp>
        <p:nvSpPr>
          <p:cNvPr id="3" name="Text 1"/>
          <p:cNvSpPr/>
          <p:nvPr/>
        </p:nvSpPr>
        <p:spPr>
          <a:xfrm>
            <a:off x="495300" y="1709291"/>
            <a:ext cx="2590800" cy="27813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733425" y="27856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5" name="Text 3"/>
          <p:cNvSpPr/>
          <p:nvPr/>
        </p:nvSpPr>
        <p:spPr>
          <a:xfrm>
            <a:off x="733425" y="35285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6" name="Text 4"/>
          <p:cNvSpPr/>
          <p:nvPr/>
        </p:nvSpPr>
        <p:spPr>
          <a:xfrm>
            <a:off x="733425" y="40810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7" name="Text 5"/>
          <p:cNvSpPr/>
          <p:nvPr/>
        </p:nvSpPr>
        <p:spPr>
          <a:xfrm>
            <a:off x="3276600" y="1709291"/>
            <a:ext cx="2590800" cy="27813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3514725" y="25951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9" name="Text 7"/>
          <p:cNvSpPr/>
          <p:nvPr/>
        </p:nvSpPr>
        <p:spPr>
          <a:xfrm>
            <a:off x="3514725" y="31475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0" name="Text 8"/>
          <p:cNvSpPr/>
          <p:nvPr/>
        </p:nvSpPr>
        <p:spPr>
          <a:xfrm>
            <a:off x="3514725" y="37000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1" name="Text 9"/>
          <p:cNvSpPr/>
          <p:nvPr/>
        </p:nvSpPr>
        <p:spPr>
          <a:xfrm>
            <a:off x="6057900" y="1709291"/>
            <a:ext cx="2590800" cy="27813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2" name="Text 10"/>
          <p:cNvSpPr/>
          <p:nvPr/>
        </p:nvSpPr>
        <p:spPr>
          <a:xfrm>
            <a:off x="6296025" y="25951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3" name="Text 11"/>
          <p:cNvSpPr/>
          <p:nvPr/>
        </p:nvSpPr>
        <p:spPr>
          <a:xfrm>
            <a:off x="6296025" y="31475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4" name="Text 12"/>
          <p:cNvSpPr/>
          <p:nvPr/>
        </p:nvSpPr>
        <p:spPr>
          <a:xfrm>
            <a:off x="6296025" y="38905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5" name="Text 13"/>
          <p:cNvSpPr/>
          <p:nvPr/>
        </p:nvSpPr>
        <p:spPr>
          <a:xfrm>
            <a:off x="495300" y="4719191"/>
            <a:ext cx="8153400" cy="806351"/>
          </a:xfrm>
          <a:prstGeom prst="roundRect">
            <a:avLst>
              <a:gd name="adj" fmla="val 24947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6" name="Text 14"/>
          <p:cNvSpPr/>
          <p:nvPr/>
        </p:nvSpPr>
        <p:spPr>
          <a:xfrm>
            <a:off x="495300" y="109091"/>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Đo hiệu quả bằng tác động lên delivery, không dừng ở số giờ đào tạo</a:t>
            </a:r>
            <a:endParaRPr lang="en-US" sz="3600" dirty="0"/>
          </a:p>
        </p:txBody>
      </p:sp>
      <p:sp>
        <p:nvSpPr>
          <p:cNvPr id="17" name="Text 15"/>
          <p:cNvSpPr/>
          <p:nvPr/>
        </p:nvSpPr>
        <p:spPr>
          <a:xfrm>
            <a:off x="733425" y="194741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Delivery KPI</a:t>
            </a:r>
            <a:endParaRPr lang="en-US" sz="1350" dirty="0"/>
          </a:p>
        </p:txBody>
      </p:sp>
      <p:sp>
        <p:nvSpPr>
          <p:cNvPr id="18" name="Text 16"/>
          <p:cNvSpPr/>
          <p:nvPr/>
        </p:nvSpPr>
        <p:spPr>
          <a:xfrm>
            <a:off x="733425" y="2366516"/>
            <a:ext cx="1190476"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Lead time task/spec</a:t>
            </a:r>
            <a:endParaRPr lang="en-US" sz="1050" dirty="0"/>
          </a:p>
        </p:txBody>
      </p:sp>
      <p:sp>
        <p:nvSpPr>
          <p:cNvPr id="19" name="Text 17"/>
          <p:cNvSpPr/>
          <p:nvPr/>
        </p:nvSpPr>
        <p:spPr>
          <a:xfrm>
            <a:off x="1923901" y="2366516"/>
            <a:ext cx="924074"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-15% đến -25%</a:t>
            </a:r>
            <a:endParaRPr lang="en-US" sz="1050" dirty="0"/>
          </a:p>
        </p:txBody>
      </p:sp>
      <p:sp>
        <p:nvSpPr>
          <p:cNvPr id="20" name="Text 18"/>
          <p:cNvSpPr/>
          <p:nvPr/>
        </p:nvSpPr>
        <p:spPr>
          <a:xfrm>
            <a:off x="733425" y="3109466"/>
            <a:ext cx="1092845"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Onboarding speed</a:t>
            </a:r>
            <a:endParaRPr lang="en-US" sz="1050" dirty="0"/>
          </a:p>
        </p:txBody>
      </p:sp>
      <p:sp>
        <p:nvSpPr>
          <p:cNvPr id="21" name="Text 19"/>
          <p:cNvSpPr/>
          <p:nvPr/>
        </p:nvSpPr>
        <p:spPr>
          <a:xfrm>
            <a:off x="1826270" y="3109466"/>
            <a:ext cx="1021705"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+20% đến +30%</a:t>
            </a:r>
            <a:endParaRPr lang="en-US" sz="1050" dirty="0"/>
          </a:p>
        </p:txBody>
      </p:sp>
      <p:sp>
        <p:nvSpPr>
          <p:cNvPr id="22" name="Text 20"/>
          <p:cNvSpPr/>
          <p:nvPr/>
        </p:nvSpPr>
        <p:spPr>
          <a:xfrm>
            <a:off x="733425" y="3852416"/>
            <a:ext cx="136988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Automation coverage</a:t>
            </a:r>
            <a:endParaRPr lang="en-US" sz="1050" dirty="0"/>
          </a:p>
        </p:txBody>
      </p:sp>
      <p:sp>
        <p:nvSpPr>
          <p:cNvPr id="23" name="Text 21"/>
          <p:cNvSpPr/>
          <p:nvPr/>
        </p:nvSpPr>
        <p:spPr>
          <a:xfrm>
            <a:off x="2466975" y="3852416"/>
            <a:ext cx="38862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+25%</a:t>
            </a:r>
            <a:endParaRPr lang="en-US" sz="1050" dirty="0"/>
          </a:p>
        </p:txBody>
      </p:sp>
      <p:sp>
        <p:nvSpPr>
          <p:cNvPr id="24" name="Text 22"/>
          <p:cNvSpPr/>
          <p:nvPr/>
        </p:nvSpPr>
        <p:spPr>
          <a:xfrm>
            <a:off x="3514725" y="194741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Quality KPI</a:t>
            </a:r>
            <a:endParaRPr lang="en-US" sz="1350" dirty="0"/>
          </a:p>
        </p:txBody>
      </p:sp>
      <p:sp>
        <p:nvSpPr>
          <p:cNvPr id="25" name="Text 23"/>
          <p:cNvSpPr/>
          <p:nvPr/>
        </p:nvSpPr>
        <p:spPr>
          <a:xfrm>
            <a:off x="3514725" y="2366516"/>
            <a:ext cx="97155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Defect leakage</a:t>
            </a:r>
            <a:endParaRPr lang="en-US" sz="1050" dirty="0"/>
          </a:p>
        </p:txBody>
      </p:sp>
      <p:sp>
        <p:nvSpPr>
          <p:cNvPr id="26" name="Text 24"/>
          <p:cNvSpPr/>
          <p:nvPr/>
        </p:nvSpPr>
        <p:spPr>
          <a:xfrm>
            <a:off x="4619625" y="2366516"/>
            <a:ext cx="1029843"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-10% đến -20%</a:t>
            </a:r>
            <a:endParaRPr lang="en-US" sz="1050" dirty="0"/>
          </a:p>
        </p:txBody>
      </p:sp>
      <p:sp>
        <p:nvSpPr>
          <p:cNvPr id="27" name="Text 25"/>
          <p:cNvSpPr/>
          <p:nvPr/>
        </p:nvSpPr>
        <p:spPr>
          <a:xfrm>
            <a:off x="3514725" y="2918966"/>
            <a:ext cx="105899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Reuse asset rate</a:t>
            </a:r>
            <a:endParaRPr lang="en-US" sz="1050" dirty="0"/>
          </a:p>
        </p:txBody>
      </p:sp>
      <p:sp>
        <p:nvSpPr>
          <p:cNvPr id="28" name="Text 26"/>
          <p:cNvSpPr/>
          <p:nvPr/>
        </p:nvSpPr>
        <p:spPr>
          <a:xfrm>
            <a:off x="5238750" y="291896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+30%</a:t>
            </a:r>
            <a:endParaRPr lang="en-US" sz="1050" dirty="0"/>
          </a:p>
        </p:txBody>
      </p:sp>
      <p:sp>
        <p:nvSpPr>
          <p:cNvPr id="29" name="Text 27"/>
          <p:cNvSpPr/>
          <p:nvPr/>
        </p:nvSpPr>
        <p:spPr>
          <a:xfrm>
            <a:off x="3514725" y="3471416"/>
            <a:ext cx="1661350"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Traceability completeness</a:t>
            </a:r>
            <a:endParaRPr lang="en-US" sz="1050" dirty="0"/>
          </a:p>
        </p:txBody>
      </p:sp>
      <p:sp>
        <p:nvSpPr>
          <p:cNvPr id="30" name="Text 28"/>
          <p:cNvSpPr/>
          <p:nvPr/>
        </p:nvSpPr>
        <p:spPr>
          <a:xfrm>
            <a:off x="5238750" y="347141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&gt;90%</a:t>
            </a:r>
            <a:endParaRPr lang="en-US" sz="1050" dirty="0"/>
          </a:p>
        </p:txBody>
      </p:sp>
      <p:sp>
        <p:nvSpPr>
          <p:cNvPr id="31" name="Text 29"/>
          <p:cNvSpPr/>
          <p:nvPr/>
        </p:nvSpPr>
        <p:spPr>
          <a:xfrm>
            <a:off x="6296025" y="194741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People KPI</a:t>
            </a:r>
            <a:endParaRPr lang="en-US" sz="1350" dirty="0"/>
          </a:p>
        </p:txBody>
      </p:sp>
      <p:sp>
        <p:nvSpPr>
          <p:cNvPr id="32" name="Text 30"/>
          <p:cNvSpPr/>
          <p:nvPr/>
        </p:nvSpPr>
        <p:spPr>
          <a:xfrm>
            <a:off x="6296025" y="2366516"/>
            <a:ext cx="1709928"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Certified AI workflow users</a:t>
            </a:r>
            <a:endParaRPr lang="en-US" sz="1050" dirty="0"/>
          </a:p>
        </p:txBody>
      </p:sp>
      <p:sp>
        <p:nvSpPr>
          <p:cNvPr id="33" name="Text 31"/>
          <p:cNvSpPr/>
          <p:nvPr/>
        </p:nvSpPr>
        <p:spPr>
          <a:xfrm>
            <a:off x="8020050" y="236651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60%+</a:t>
            </a:r>
            <a:endParaRPr lang="en-US" sz="1050" dirty="0"/>
          </a:p>
        </p:txBody>
      </p:sp>
      <p:sp>
        <p:nvSpPr>
          <p:cNvPr id="34" name="Text 32"/>
          <p:cNvSpPr/>
          <p:nvPr/>
        </p:nvSpPr>
        <p:spPr>
          <a:xfrm>
            <a:off x="6296025" y="2918966"/>
            <a:ext cx="1029843"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Internal mentors</a:t>
            </a:r>
            <a:endParaRPr lang="en-US" sz="1050" dirty="0"/>
          </a:p>
        </p:txBody>
      </p:sp>
      <p:sp>
        <p:nvSpPr>
          <p:cNvPr id="35" name="Text 33"/>
          <p:cNvSpPr/>
          <p:nvPr/>
        </p:nvSpPr>
        <p:spPr>
          <a:xfrm>
            <a:off x="7315200" y="2918966"/>
            <a:ext cx="1117283"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10–15% lực lượng</a:t>
            </a:r>
            <a:endParaRPr lang="en-US" sz="1050" dirty="0"/>
          </a:p>
        </p:txBody>
      </p:sp>
      <p:sp>
        <p:nvSpPr>
          <p:cNvPr id="36" name="Text 34"/>
          <p:cNvSpPr/>
          <p:nvPr/>
        </p:nvSpPr>
        <p:spPr>
          <a:xfrm>
            <a:off x="6296025" y="3471416"/>
            <a:ext cx="1425029"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Knowledge contribution</a:t>
            </a:r>
            <a:endParaRPr lang="en-US" sz="1050" dirty="0"/>
          </a:p>
        </p:txBody>
      </p:sp>
      <p:sp>
        <p:nvSpPr>
          <p:cNvPr id="37" name="Text 35"/>
          <p:cNvSpPr/>
          <p:nvPr/>
        </p:nvSpPr>
        <p:spPr>
          <a:xfrm>
            <a:off x="7721054" y="3471416"/>
            <a:ext cx="689521"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hàng tháng</a:t>
            </a:r>
            <a:endParaRPr lang="en-US" sz="1050" dirty="0"/>
          </a:p>
        </p:txBody>
      </p:sp>
      <p:sp>
        <p:nvSpPr>
          <p:cNvPr id="38" name="Text 36"/>
          <p:cNvSpPr/>
          <p:nvPr/>
        </p:nvSpPr>
        <p:spPr>
          <a:xfrm>
            <a:off x="695325" y="4919216"/>
            <a:ext cx="77533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Các mức % trên là mục tiêu điều hành đề xuất để pilot và điều chỉnh theo thực tế từng dự án; nguyên tắc là phải đo trước-sau trên cùng một squad để chứng minh ROI.</a:t>
            </a:r>
            <a:endParaRPr lang="en-US" sz="110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385018"/>
            <a:ext cx="9676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Governance</a:t>
            </a:r>
            <a:endParaRPr lang="en-US" sz="960" dirty="0"/>
          </a:p>
        </p:txBody>
      </p:sp>
      <p:sp>
        <p:nvSpPr>
          <p:cNvPr id="3" name="Text 1"/>
          <p:cNvSpPr/>
          <p:nvPr/>
        </p:nvSpPr>
        <p:spPr>
          <a:xfrm>
            <a:off x="495300" y="1744414"/>
            <a:ext cx="39624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1744414"/>
            <a:ext cx="39624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985766"/>
            <a:ext cx="3962400" cy="1542901"/>
          </a:xfrm>
          <a:prstGeom prst="roundRect">
            <a:avLst>
              <a:gd name="adj" fmla="val 13038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985766"/>
            <a:ext cx="3962400" cy="1542901"/>
          </a:xfrm>
          <a:prstGeom prst="roundRect">
            <a:avLst>
              <a:gd name="adj" fmla="val 13038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106114"/>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4 nguyên tắc để triển khai AI trong IVI mà không bị phong trào</a:t>
            </a:r>
            <a:endParaRPr lang="en-US" sz="3600" dirty="0"/>
          </a:p>
        </p:txBody>
      </p:sp>
      <p:sp>
        <p:nvSpPr>
          <p:cNvPr id="8" name="Text 6"/>
          <p:cNvSpPr/>
          <p:nvPr/>
        </p:nvSpPr>
        <p:spPr>
          <a:xfrm>
            <a:off x="771525" y="202063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1. Chỉ dùng AI ở bài toán có chuẩn đầu ra</a:t>
            </a:r>
            <a:endParaRPr lang="en-US" sz="1500" dirty="0"/>
          </a:p>
        </p:txBody>
      </p:sp>
      <p:sp>
        <p:nvSpPr>
          <p:cNvPr id="9" name="Text 7"/>
          <p:cNvSpPr/>
          <p:nvPr/>
        </p:nvSpPr>
        <p:spPr>
          <a:xfrm>
            <a:off x="771525" y="2668339"/>
            <a:ext cx="34099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Ưu tiên spec draft, code review support, unit test, log analysis, knowledge retrieval. Tránh dùng AI tự quyết ở các hạng mục safety/compliance nếu chưa có hàng rào rõ.</a:t>
            </a:r>
            <a:endParaRPr lang="en-US" sz="1104" dirty="0"/>
          </a:p>
        </p:txBody>
      </p:sp>
      <p:sp>
        <p:nvSpPr>
          <p:cNvPr id="10" name="Text 8"/>
          <p:cNvSpPr/>
          <p:nvPr/>
        </p:nvSpPr>
        <p:spPr>
          <a:xfrm>
            <a:off x="4962525" y="202063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2. Tách rõ sinh nội dung và phê duyệt</a:t>
            </a:r>
            <a:endParaRPr lang="en-US" sz="1500" dirty="0"/>
          </a:p>
        </p:txBody>
      </p:sp>
      <p:sp>
        <p:nvSpPr>
          <p:cNvPr id="11" name="Text 9"/>
          <p:cNvSpPr/>
          <p:nvPr/>
        </p:nvSpPr>
        <p:spPr>
          <a:xfrm>
            <a:off x="4962525" y="2668339"/>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AI tạo nháp; kỹ sư, lead hoặc QA là người duyệt. Không để mô hình “agent sinh, agent tự xác nhận” trong khâu quan trọng.</a:t>
            </a:r>
            <a:endParaRPr lang="en-US" sz="1104" dirty="0"/>
          </a:p>
        </p:txBody>
      </p:sp>
      <p:sp>
        <p:nvSpPr>
          <p:cNvPr id="12" name="Text 10"/>
          <p:cNvSpPr/>
          <p:nvPr/>
        </p:nvSpPr>
        <p:spPr>
          <a:xfrm>
            <a:off x="771525" y="42619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3. Quản lý dữ liệu và IP nghiêm túc</a:t>
            </a:r>
            <a:endParaRPr lang="en-US" sz="1500" dirty="0"/>
          </a:p>
        </p:txBody>
      </p:sp>
      <p:sp>
        <p:nvSpPr>
          <p:cNvPr id="13" name="Text 11"/>
          <p:cNvSpPr/>
          <p:nvPr/>
        </p:nvSpPr>
        <p:spPr>
          <a:xfrm>
            <a:off x="771525" y="4642991"/>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Phân loại tài liệu nào được đưa vào agent, tài liệu nào chỉ dùng nội bộ kín; lưu log prompt/output cho use case quan trọng.</a:t>
            </a:r>
            <a:endParaRPr lang="en-US" sz="1104" dirty="0"/>
          </a:p>
        </p:txBody>
      </p:sp>
      <p:sp>
        <p:nvSpPr>
          <p:cNvPr id="14" name="Text 12"/>
          <p:cNvSpPr/>
          <p:nvPr/>
        </p:nvSpPr>
        <p:spPr>
          <a:xfrm>
            <a:off x="4962525" y="42619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4. Xây CoE để mở rộng có kiểm soát</a:t>
            </a:r>
            <a:endParaRPr lang="en-US" sz="1500" dirty="0"/>
          </a:p>
        </p:txBody>
      </p:sp>
      <p:sp>
        <p:nvSpPr>
          <p:cNvPr id="15" name="Text 13"/>
          <p:cNvSpPr/>
          <p:nvPr/>
        </p:nvSpPr>
        <p:spPr>
          <a:xfrm>
            <a:off x="4962525" y="4642991"/>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CoE không làm thay delivery team, mà cung cấp framework, best practice, accelerator, benchmark và hỗ trợ rollout nhanh hơn.</a:t>
            </a:r>
            <a:endParaRPr lang="en-US" sz="110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493216"/>
            <a:ext cx="14534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Đề xuất với lãnh đạo</a:t>
            </a:r>
            <a:endParaRPr lang="en-US" sz="960" dirty="0"/>
          </a:p>
        </p:txBody>
      </p:sp>
      <p:sp>
        <p:nvSpPr>
          <p:cNvPr id="3" name="Text 1"/>
          <p:cNvSpPr/>
          <p:nvPr/>
        </p:nvSpPr>
        <p:spPr>
          <a:xfrm>
            <a:off x="495300" y="95041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67250" y="95041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199816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67250" y="1998166"/>
            <a:ext cx="3981450" cy="857250"/>
          </a:xfrm>
          <a:prstGeom prst="roundRect">
            <a:avLst>
              <a:gd name="adj" fmla="val 23466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304591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667250" y="304591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4360366"/>
            <a:ext cx="8153400" cy="1276350"/>
          </a:xfrm>
          <a:prstGeom prst="roundRect">
            <a:avLst>
              <a:gd name="adj" fmla="val 15761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0" name="Text 8"/>
          <p:cNvSpPr/>
          <p:nvPr/>
        </p:nvSpPr>
        <p:spPr>
          <a:xfrm>
            <a:off x="495300" y="-2084"/>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6 việc có thể chốt hành động ngay ở cấp đơn vị</a:t>
            </a:r>
            <a:endParaRPr lang="en-US" sz="3600" dirty="0"/>
          </a:p>
        </p:txBody>
      </p:sp>
      <p:sp>
        <p:nvSpPr>
          <p:cNvPr id="11" name="Text 9"/>
          <p:cNvSpPr/>
          <p:nvPr/>
        </p:nvSpPr>
        <p:spPr>
          <a:xfrm>
            <a:off x="695325" y="1169491"/>
            <a:ext cx="223457"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4867275" y="11694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02.</a:t>
            </a:r>
            <a:endParaRPr lang="en-US" sz="1200" dirty="0"/>
          </a:p>
        </p:txBody>
      </p:sp>
      <p:sp>
        <p:nvSpPr>
          <p:cNvPr id="13" name="Text 11"/>
          <p:cNvSpPr/>
          <p:nvPr/>
        </p:nvSpPr>
        <p:spPr>
          <a:xfrm>
            <a:off x="695325" y="221724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03.</a:t>
            </a:r>
            <a:endParaRPr lang="en-US" sz="1200" dirty="0"/>
          </a:p>
        </p:txBody>
      </p:sp>
      <p:sp>
        <p:nvSpPr>
          <p:cNvPr id="14" name="Text 12"/>
          <p:cNvSpPr/>
          <p:nvPr/>
        </p:nvSpPr>
        <p:spPr>
          <a:xfrm>
            <a:off x="4867275" y="221724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695325" y="32649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05.</a:t>
            </a:r>
            <a:endParaRPr lang="en-US" sz="1200" dirty="0"/>
          </a:p>
        </p:txBody>
      </p:sp>
      <p:sp>
        <p:nvSpPr>
          <p:cNvPr id="16" name="Text 14"/>
          <p:cNvSpPr/>
          <p:nvPr/>
        </p:nvSpPr>
        <p:spPr>
          <a:xfrm>
            <a:off x="4867275" y="32649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06.</a:t>
            </a:r>
            <a:endParaRPr lang="en-US" sz="1200" dirty="0"/>
          </a:p>
        </p:txBody>
      </p:sp>
      <p:sp>
        <p:nvSpPr>
          <p:cNvPr id="17" name="Text 15"/>
          <p:cNvSpPr/>
          <p:nvPr/>
        </p:nvSpPr>
        <p:spPr>
          <a:xfrm>
            <a:off x="733425" y="4598491"/>
            <a:ext cx="7677150" cy="800100"/>
          </a:xfrm>
          <a:prstGeom prst="rect">
            <a:avLst/>
          </a:prstGeom>
          <a:noFill/>
          <a:ln/>
        </p:spPr>
        <p:txBody>
          <a:bodyPr wrap="square" lIns="0" tIns="0" rIns="0" bIns="0" rtlCol="0" anchor="t"/>
          <a:lstStyle/>
          <a:p>
            <a:pPr indent="0" marL="0">
              <a:lnSpc>
                <a:spcPts val="2100"/>
              </a:lnSpc>
              <a:buNone/>
            </a:pPr>
            <a:r>
              <a:rPr lang="en-US" sz="1350" dirty="0">
                <a:solidFill>
                  <a:srgbClr val="C8D4E8"/>
                </a:solidFill>
                <a:latin typeface="Inter" pitchFamily="34" charset="0"/>
                <a:ea typeface="Inter" pitchFamily="34" charset="-122"/>
                <a:cs typeface="Inter" pitchFamily="34" charset="-120"/>
              </a:rPr>
              <a:t>Nếu làm theo hướng này, đơn vị sẽ có năng lực tổ chức khó sao chép: hiểu bài toán khách hàng, giữ được chất lượng automotive và scale delivery tốt hơn thay vì phụ thuộc vài cá nhân giỏi.</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13766" y="-169218"/>
            <a:ext cx="8316468" cy="1600200"/>
          </a:xfrm>
          <a:prstGeom prst="rect">
            <a:avLst/>
          </a:prstGeom>
          <a:noFill/>
          <a:ln/>
        </p:spPr>
        <p:txBody>
          <a:bodyPr wrap="square" lIns="0" tIns="0" rIns="0" bIns="0" rtlCol="0" anchor="t"/>
          <a:lstStyle/>
          <a:p>
            <a:pPr algn="ctr" indent="0" marL="0">
              <a:lnSpc>
                <a:spcPts val="12600"/>
              </a:lnSpc>
              <a:buNone/>
            </a:pPr>
            <a:r>
              <a:rPr lang="en-US" sz="8400" dirty="0">
                <a:solidFill>
                  <a:srgbClr val="EEF4FF"/>
                </a:solidFill>
                <a:latin typeface="Inter" pitchFamily="34" charset="0"/>
                <a:ea typeface="Inter" pitchFamily="34" charset="-122"/>
                <a:cs typeface="Inter" pitchFamily="34" charset="-120"/>
              </a:rPr>
              <a:t>🚘</a:t>
            </a:r>
            <a:endParaRPr lang="en-US" sz="8400" dirty="0"/>
          </a:p>
        </p:txBody>
      </p:sp>
      <p:sp>
        <p:nvSpPr>
          <p:cNvPr id="3" name="Text 1"/>
          <p:cNvSpPr/>
          <p:nvPr/>
        </p:nvSpPr>
        <p:spPr>
          <a:xfrm>
            <a:off x="495300" y="1621482"/>
            <a:ext cx="8153400" cy="2194322"/>
          </a:xfrm>
          <a:prstGeom prst="rect">
            <a:avLst/>
          </a:prstGeom>
          <a:noFill/>
          <a:ln/>
        </p:spPr>
        <p:txBody>
          <a:bodyPr wrap="square" lIns="0" tIns="0" rIns="0" bIns="0" rtlCol="0" anchor="t"/>
          <a:lstStyle/>
          <a:p>
            <a:pPr algn="ctr" indent="0" marL="0">
              <a:lnSpc>
                <a:spcPts val="8640"/>
              </a:lnSpc>
              <a:buNone/>
            </a:pPr>
            <a:r>
              <a:rPr lang="en-US" sz="5760" b="1" dirty="0">
                <a:solidFill>
                  <a:srgbClr val="4F8CFF"/>
                </a:solidFill>
                <a:latin typeface="Instrument Serif" pitchFamily="34" charset="0"/>
                <a:ea typeface="Instrument Serif" pitchFamily="34" charset="-122"/>
                <a:cs typeface="Instrument Serif" pitchFamily="34" charset="-120"/>
              </a:rPr>
              <a:t>Thông điệp chốt với lãnh đạo đơn vị</a:t>
            </a:r>
            <a:endParaRPr lang="en-US" sz="5760" dirty="0"/>
          </a:p>
        </p:txBody>
      </p:sp>
      <p:sp>
        <p:nvSpPr>
          <p:cNvPr id="4" name="Text 2"/>
          <p:cNvSpPr/>
          <p:nvPr/>
        </p:nvSpPr>
        <p:spPr>
          <a:xfrm>
            <a:off x="495300" y="3968204"/>
            <a:ext cx="8153400" cy="925562"/>
          </a:xfrm>
          <a:prstGeom prst="rect">
            <a:avLst/>
          </a:prstGeom>
          <a:noFill/>
          <a:ln/>
        </p:spPr>
        <p:txBody>
          <a:bodyPr wrap="square" lIns="0" tIns="0" rIns="0" bIns="0" rtlCol="0" anchor="t"/>
          <a:lstStyle/>
          <a:p>
            <a:pPr algn="ctr" indent="0" marL="0">
              <a:lnSpc>
                <a:spcPts val="2430"/>
              </a:lnSpc>
              <a:buNone/>
            </a:pPr>
            <a:r>
              <a:rPr lang="en-US" sz="1620" dirty="0">
                <a:solidFill>
                  <a:srgbClr val="C8D4E8"/>
                </a:solidFill>
                <a:latin typeface="Inter" pitchFamily="34" charset="0"/>
                <a:ea typeface="Inter" pitchFamily="34" charset="-122"/>
                <a:cs typeface="Inter" pitchFamily="34" charset="-120"/>
              </a:rPr>
              <a:t>Phát triển nhân sự IVI trong thời đại nhiều AI Agent, nói ngắn gọn, là bài toán tổ chức lại cách làm: chuẩn hơn ở spec, mạnh hơn ở lead/architect, nhanh hơn ở execution và tốt hơn ở khả năng reuse tri thức trong toàn đơn vị.</a:t>
            </a:r>
            <a:endParaRPr lang="en-US" sz="1620" dirty="0"/>
          </a:p>
        </p:txBody>
      </p:sp>
      <p:sp>
        <p:nvSpPr>
          <p:cNvPr id="5" name="Text 3"/>
          <p:cNvSpPr/>
          <p:nvPr/>
        </p:nvSpPr>
        <p:spPr>
          <a:xfrm>
            <a:off x="413766" y="5122366"/>
            <a:ext cx="8316468"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People first · AI enabled · Automotive grade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2026-07-01T15:13:01Z</dcterms:created>
  <dcterms:modified xsi:type="dcterms:W3CDTF">2026-07-01T15:13:01Z</dcterms:modified>
</cp:coreProperties>
</file>